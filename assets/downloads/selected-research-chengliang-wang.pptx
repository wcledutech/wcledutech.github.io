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a048b676a4424a" /><Relationship Type="http://schemas.openxmlformats.org/officeDocument/2006/relationships/extended-properties" Target="/docProps/app.xml" Id="Rcbebe4f310144e54" /><Relationship Type="http://schemas.openxmlformats.org/officeDocument/2006/relationships/officeDocument" Target="/ppt/presentation.xml" Id="R5920cf84af1747aa" /></Relationships>
</file>

<file path=ppt/presentation.xml><?xml version="1.0" encoding="utf-8"?>
<p:presentation xmlns:p="http://schemas.openxmlformats.org/presentationml/2006/main">
  <p:sldMasterIdLst>
    <p:sldMasterId xmlns:r="http://schemas.openxmlformats.org/officeDocument/2006/relationships" id="2147483648" r:id="R08251bdbbdd245d5"/>
  </p:sldMasterIdLst>
  <p:notesMasterIdLst>
    <p:notesMasterId xmlns:r="http://schemas.openxmlformats.org/officeDocument/2006/relationships" r:id="Rd7ee049d54804f4e"/>
  </p:notesMasterIdLst>
  <p:sldIdLst>
    <p:sldId xmlns:r="http://schemas.openxmlformats.org/officeDocument/2006/relationships" id="256" r:id="Re2135468b6624093"/>
    <p:sldId xmlns:r="http://schemas.openxmlformats.org/officeDocument/2006/relationships" id="257" r:id="R68ebc182f3d54eef"/>
    <p:sldId xmlns:r="http://schemas.openxmlformats.org/officeDocument/2006/relationships" id="258" r:id="R07b35368bd16446f"/>
    <p:sldId xmlns:r="http://schemas.openxmlformats.org/officeDocument/2006/relationships" id="259" r:id="R68472e3ec3cd449b"/>
    <p:sldId xmlns:r="http://schemas.openxmlformats.org/officeDocument/2006/relationships" id="260" r:id="R4b37af86bd214f71"/>
    <p:sldId xmlns:r="http://schemas.openxmlformats.org/officeDocument/2006/relationships" id="261" r:id="Race5a236537044ff"/>
    <p:sldId xmlns:r="http://schemas.openxmlformats.org/officeDocument/2006/relationships" id="262" r:id="R14cc40444cbd44d8"/>
    <p:sldId xmlns:r="http://schemas.openxmlformats.org/officeDocument/2006/relationships" id="263" r:id="R5df5c4e7c6b44695"/>
    <p:sldId xmlns:r="http://schemas.openxmlformats.org/officeDocument/2006/relationships" id="264" r:id="Re6691d77cad4416d"/>
    <p:sldId xmlns:r="http://schemas.openxmlformats.org/officeDocument/2006/relationships" id="265" r:id="Ra0ad6bedfc5b4cc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2e88a39aa1429c" /><Relationship Type="http://schemas.openxmlformats.org/officeDocument/2006/relationships/slideMaster" Target="/ppt/slideMasters/slideMaster1.xml" Id="R08251bdbbdd245d5" /><Relationship Type="http://schemas.openxmlformats.org/officeDocument/2006/relationships/notesMaster" Target="/ppt/notesMasters/notesMaster1.xml" Id="Rd7ee049d54804f4e" /><Relationship Type="http://schemas.openxmlformats.org/officeDocument/2006/relationships/presProps" Target="/ppt/presProps.xml" Id="R8d9a0004f913403d" /><Relationship Type="http://schemas.openxmlformats.org/officeDocument/2006/relationships/tableStyles" Target="/ppt/tableStyles.xml" Id="Re6d8a11006ae489b" /><Relationship Type="http://schemas.openxmlformats.org/officeDocument/2006/relationships/slide" Target="/ppt/slides/slide1.xml" Id="Re2135468b6624093" /><Relationship Type="http://schemas.openxmlformats.org/officeDocument/2006/relationships/slide" Target="/ppt/slides/slide2.xml" Id="R68ebc182f3d54eef" /><Relationship Type="http://schemas.openxmlformats.org/officeDocument/2006/relationships/slide" Target="/ppt/slides/slide3.xml" Id="R07b35368bd16446f" /><Relationship Type="http://schemas.openxmlformats.org/officeDocument/2006/relationships/slide" Target="/ppt/slides/slide4.xml" Id="R68472e3ec3cd449b" /><Relationship Type="http://schemas.openxmlformats.org/officeDocument/2006/relationships/slide" Target="/ppt/slides/slide5.xml" Id="R4b37af86bd214f71" /><Relationship Type="http://schemas.openxmlformats.org/officeDocument/2006/relationships/slide" Target="/ppt/slides/slide6.xml" Id="Race5a236537044ff" /><Relationship Type="http://schemas.openxmlformats.org/officeDocument/2006/relationships/slide" Target="/ppt/slides/slide7.xml" Id="R14cc40444cbd44d8" /><Relationship Type="http://schemas.openxmlformats.org/officeDocument/2006/relationships/slide" Target="/ppt/slides/slide8.xml" Id="R5df5c4e7c6b44695" /><Relationship Type="http://schemas.openxmlformats.org/officeDocument/2006/relationships/slide" Target="/ppt/slides/slide9.xml" Id="Re6691d77cad4416d" /><Relationship Type="http://schemas.openxmlformats.org/officeDocument/2006/relationships/slide" Target="/ppt/slides/slide10.xml" Id="Ra0ad6bedfc5b4c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8d9ecc542f4b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bb8b45dbdb4455" /><Relationship Type="http://schemas.openxmlformats.org/officeDocument/2006/relationships/notesMaster" Target="/ppt/notesMasters/notesMaster1.xml" Id="R6a1d3137baff45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d4961dda7b47c4" /><Relationship Type="http://schemas.openxmlformats.org/officeDocument/2006/relationships/notesMaster" Target="/ppt/notesMasters/notesMaster1.xml" Id="Rb066fd9abcad40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8141ffe0644013" /><Relationship Type="http://schemas.openxmlformats.org/officeDocument/2006/relationships/notesMaster" Target="/ppt/notesMasters/notesMaster1.xml" Id="R0adc0e92139b4c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2d818cf640446c" /><Relationship Type="http://schemas.openxmlformats.org/officeDocument/2006/relationships/notesMaster" Target="/ppt/notesMasters/notesMaster1.xml" Id="Raf9aceba6edc44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022102ba384c17" /><Relationship Type="http://schemas.openxmlformats.org/officeDocument/2006/relationships/notesMaster" Target="/ppt/notesMasters/notesMaster1.xml" Id="Rc8b942ab520444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61afcbeb8114ecc" /><Relationship Type="http://schemas.openxmlformats.org/officeDocument/2006/relationships/notesMaster" Target="/ppt/notesMasters/notesMaster1.xml" Id="R4ac2659b5d1046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ff290e468439a" /><Relationship Type="http://schemas.openxmlformats.org/officeDocument/2006/relationships/notesMaster" Target="/ppt/notesMasters/notesMaster1.xml" Id="Rcdbe85fd134b4e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17c7c077a94586" /><Relationship Type="http://schemas.openxmlformats.org/officeDocument/2006/relationships/notesMaster" Target="/ppt/notesMasters/notesMaster1.xml" Id="Rcea83b06e3f041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cb85e9497f40c9" /><Relationship Type="http://schemas.openxmlformats.org/officeDocument/2006/relationships/notesMaster" Target="/ppt/notesMasters/notesMaster1.xml" Id="R403ad0c08ee546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aa898d89844b1b" /><Relationship Type="http://schemas.openxmlformats.org/officeDocument/2006/relationships/notesMaster" Target="/ppt/notesMasters/notesMaster1.xml" Id="R52ed6f6b6b0f48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Wang, C., Chen, X., Li, Y., Wang, P., Wang, H., &amp; Li, Y. (2025). MetaClassroom: A New Paradigm and Experience for Programming Education. Journal of Educational Computing Research, 63(4), 864-901. https://doi.org/10.1177/07356331251322470</a:t>
            </a:r>
          </a:p>
          <a:p xmlns:a="http://schemas.openxmlformats.org/drawingml/2006/main">
            <a:r>
              <a:t/>
            </a:r>
          </a:p>
          <a:p xmlns:a="http://schemas.openxmlformats.org/drawingml/2006/main">
            <a:r>
              <a:t>Publisher or repository source: https://doi.org/10.1177/07356331251322470</a:t>
            </a:r>
          </a:p>
          <a:p xmlns:a="http://schemas.openxmlformats.org/drawingml/2006/main">
            <a:r>
              <a:t>Research page: https://wcledutech.github.io/papers/metaclassroom-programming-education/</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Wang, C., Chen, Y., Hu, Z., Li, Y., &amp; Gu, X. (2025). The journey of challenges and victories: exploring the transformation action framework in the GenAI era from multifaceted policies. Educational technology research and development, 73(5), 2951-2993. https://doi.org/10.1007/s11423-025-10535-5</a:t>
            </a:r>
          </a:p>
          <a:p xmlns:a="http://schemas.openxmlformats.org/drawingml/2006/main">
            <a:r>
              <a:t/>
            </a:r>
          </a:p>
          <a:p xmlns:a="http://schemas.openxmlformats.org/drawingml/2006/main">
            <a:r>
              <a:t>Publisher or repository source: https://link.springer.com/article/10.1007/s11423-025-10535-5</a:t>
            </a:r>
          </a:p>
          <a:p xmlns:a="http://schemas.openxmlformats.org/drawingml/2006/main">
            <a:r>
              <a:t>Research page: https://wcledutech.github.io/papers/generative-ai-education-policy-framework/</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Wang, C., Chen, X., Hu, Z., Jin, S., &amp; Gu, X. (2025). Deconstructing University Learners' Adoption Intention Towards AIGC Technology: A Mixed-Methods Study Using ChatGPT as an Example. Journal of Computer Assisted Learning, 41(1), e13117. https://doi.org/10.1111/jcal.13117</a:t>
            </a:r>
          </a:p>
          <a:p xmlns:a="http://schemas.openxmlformats.org/drawingml/2006/main">
            <a:r>
              <a:t/>
            </a:r>
          </a:p>
          <a:p xmlns:a="http://schemas.openxmlformats.org/drawingml/2006/main">
            <a:r>
              <a:t>Publisher or repository source: https://doi.org/10.1111/jcal.13117</a:t>
            </a:r>
          </a:p>
          <a:p xmlns:a="http://schemas.openxmlformats.org/drawingml/2006/main">
            <a:r>
              <a:t>Research page: https://wcledutech.github.io/papers/aigc-adoption-ai-literacy-fsqca/</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Xu, J., Luo, Y., Wang, C., Wang, M., &amp; Wu, Y. (2026). AI support in self-regulated learning: A decade of technological evolution and meta-analysis. British Journal of Educational Technology, 57(5), 1191-1220. https://doi.org/10.1111/bjet.70058</a:t>
            </a:r>
          </a:p>
          <a:p xmlns:a="http://schemas.openxmlformats.org/drawingml/2006/main">
            <a:r>
              <a:t/>
            </a:r>
          </a:p>
          <a:p xmlns:a="http://schemas.openxmlformats.org/drawingml/2006/main">
            <a:r>
              <a:t>Publisher or repository source: https://doi.org/10.1111/bjet.70058</a:t>
            </a:r>
          </a:p>
          <a:p xmlns:a="http://schemas.openxmlformats.org/drawingml/2006/main">
            <a:r>
              <a:t>Research page: https://wcledutech.github.io/papers/ai-self-regulated-learning-meta-analysis/</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Jing, Y., Wang, H., Chen, X., &amp; Wang, C. (2024). What factors will affect the effectiveness of using ChatGPT to solve programming problems? A quasi-experimental study. Humanities and Social Sciences Communications, 11(1), 319. https://doi.org/10.1057/s41599-024-02751-w</a:t>
            </a:r>
          </a:p>
          <a:p xmlns:a="http://schemas.openxmlformats.org/drawingml/2006/main">
            <a:r>
              <a:t/>
            </a:r>
          </a:p>
          <a:p xmlns:a="http://schemas.openxmlformats.org/drawingml/2006/main">
            <a:r>
              <a:t>Publisher or repository source: https://www.nature.com/articles/s41599-024-02751-w</a:t>
            </a:r>
          </a:p>
          <a:p xmlns:a="http://schemas.openxmlformats.org/drawingml/2006/main">
            <a:r>
              <a:t>Research page: https://wcledutech.github.io/papers/chatgpt-programming-ai-literacy/</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Wang, H., Wang, C., Chen, Z., Liu, F., Bao, C., &amp; Xu, X. (2025). Impact of AI-agent-supported collaborative learning on the learning outcomes of University programming courses. Education and Information Technologies, 30(12), 17717-17749. https://doi.org/10.1007/s10639-025-13487-8</a:t>
            </a:r>
          </a:p>
          <a:p xmlns:a="http://schemas.openxmlformats.org/drawingml/2006/main">
            <a:r>
              <a:t/>
            </a:r>
          </a:p>
          <a:p xmlns:a="http://schemas.openxmlformats.org/drawingml/2006/main">
            <a:r>
              <a:t>Publisher or repository source: https://link.springer.com/article/10.1007/s10639-025-13487-8</a:t>
            </a:r>
          </a:p>
          <a:p xmlns:a="http://schemas.openxmlformats.org/drawingml/2006/main">
            <a:r>
              <a:t>Research page: https://wcledutech.github.io/papers/ai-agents-collaborative-programming/</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Chen, X., Hu, Z., &amp; Wang, C. (2024). Empowering education development through AIGC: A systematic literature review. Education and Information Technologies, 29(13), 17485-17537. https://doi.org/10.1007/s10639-024-12549-7</a:t>
            </a:r>
          </a:p>
          <a:p xmlns:a="http://schemas.openxmlformats.org/drawingml/2006/main">
            <a:r>
              <a:t/>
            </a:r>
          </a:p>
          <a:p xmlns:a="http://schemas.openxmlformats.org/drawingml/2006/main">
            <a:r>
              <a:t>Publisher or repository source: https://link.springer.com/article/10.1007/s10639-024-12549-7</a:t>
            </a:r>
          </a:p>
          <a:p xmlns:a="http://schemas.openxmlformats.org/drawingml/2006/main">
            <a:r>
              <a:t>Research page: https://wcledutech.github.io/papers/aigc-education-systematic-review/</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Liu, X., Tang, Q., Wu, W., Chen, X., &amp; Wang, C. (2026). GenAI-agents in education: a systematic review of macro-level trends, educational roles, theoretical foundations and future agendas. Interactive Learning Environments, 1-23. https://doi.org/10.1080/10494820.2026.2672562</a:t>
            </a:r>
          </a:p>
          <a:p xmlns:a="http://schemas.openxmlformats.org/drawingml/2006/main">
            <a:r>
              <a:t/>
            </a:r>
          </a:p>
          <a:p xmlns:a="http://schemas.openxmlformats.org/drawingml/2006/main">
            <a:r>
              <a:t>Publisher or repository source: https://doi.org/10.1080/10494820.2026.2672562</a:t>
            </a:r>
          </a:p>
          <a:p xmlns:a="http://schemas.openxmlformats.org/drawingml/2006/main">
            <a:r>
              <a:t>Research page: https://wcledutech.github.io/papers/genai-agents-education-systematic-review/</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Jin, S., Wang, H., Gao, Z., Yang, Y., Chunjia, B., &amp; Wang, C. (2025). Evolution in Simulation: AI-Agent School with Dual Memory for High-Fidelity Educational Dynamics. Findings of the Association for Computational Linguistics: EMNLP 2025, 5843-5857. https://doi.org/10.18653/v1/2025.findings-emnlp.312</a:t>
            </a:r>
          </a:p>
          <a:p xmlns:a="http://schemas.openxmlformats.org/drawingml/2006/main">
            <a:r>
              <a:t/>
            </a:r>
          </a:p>
          <a:p xmlns:a="http://schemas.openxmlformats.org/drawingml/2006/main">
            <a:r>
              <a:t>Publisher or repository source: https://aclanthology.org/2025.findings-emnlp.312/</a:t>
            </a:r>
          </a:p>
          <a:p xmlns:a="http://schemas.openxmlformats.org/drawingml/2006/main">
            <a:r>
              <a:t>Research page: https://wcledutech.github.io/papers/ai-agent-school-dual-memory/</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t>Wang, C., Wang, H., Hu, Z., &amp; Chen, X. (2024). Annotated emotional image datasets of Chinese university students in real classrooms for deep learning. Data in Brief, 57, 111147. https://doi.org/10.1016/j.dib.2024.111147</a:t>
            </a:r>
          </a:p>
          <a:p xmlns:a="http://schemas.openxmlformats.org/drawingml/2006/main">
            <a:r>
              <a:t/>
            </a:r>
          </a:p>
          <a:p xmlns:a="http://schemas.openxmlformats.org/drawingml/2006/main">
            <a:r>
              <a:t>Publisher or repository source: https://doi.org/10.1016/j.dib.2024.111147</a:t>
            </a:r>
          </a:p>
          <a:p xmlns:a="http://schemas.openxmlformats.org/drawingml/2006/main">
            <a:r>
              <a:t>Research page: https://wcledutech.github.io/papers/classroom-emotion-image-dataset/</a:t>
            </a:r>
          </a:p>
        </p:txBody>
      </p:sp>
      <p:sp>
        <p:nvSpPr>
          <p:cNvPr id="4" name="Slide Number Placeholder 3"/>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ac377823d946a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86f16e0d54910" /><Relationship Type="http://schemas.openxmlformats.org/officeDocument/2006/relationships/slideLayout" Target="/ppt/slideLayouts/slideLayout1.xml" Id="Rbe7c3d35bfa24a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7c3d35bfa24a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3e07358392465a" /><Relationship Type="http://schemas.openxmlformats.org/officeDocument/2006/relationships/hyperlink" Target="https://doi.org/10.1177/07356331251322470" TargetMode="External" Id="R9a8330b1ae4b42c5" /><Relationship Type="http://schemas.openxmlformats.org/officeDocument/2006/relationships/hyperlink" Target="https://wcledutech.github.io/papers/metaclassroom-programming-education/" TargetMode="External" Id="R2e28cd72fb434736" /><Relationship Type="http://schemas.openxmlformats.org/officeDocument/2006/relationships/notesSlide" Target="/ppt/notesSlides/notesSlide1.xml" Id="Rfd74da14c8a342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4c3040bcb5431d" /><Relationship Type="http://schemas.openxmlformats.org/officeDocument/2006/relationships/hyperlink" Target="https://doi.org/10.1007/s11423-025-10535-5" TargetMode="External" Id="Rf0520621c6c948be" /><Relationship Type="http://schemas.openxmlformats.org/officeDocument/2006/relationships/hyperlink" Target="https://wcledutech.github.io/papers/generative-ai-education-policy-framework/" TargetMode="External" Id="R3d737b8148b840b3" /><Relationship Type="http://schemas.openxmlformats.org/officeDocument/2006/relationships/notesSlide" Target="/ppt/notesSlides/notesSlide2.xml" Id="R7ac0f1eabadc47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1ef672bf2e4388" /><Relationship Type="http://schemas.openxmlformats.org/officeDocument/2006/relationships/hyperlink" Target="https://doi.org/10.1111/jcal.13117" TargetMode="External" Id="Re20d00ec40424198" /><Relationship Type="http://schemas.openxmlformats.org/officeDocument/2006/relationships/hyperlink" Target="https://wcledutech.github.io/papers/aigc-adoption-ai-literacy-fsqca/" TargetMode="External" Id="R8d8d41adcc444c97" /><Relationship Type="http://schemas.openxmlformats.org/officeDocument/2006/relationships/notesSlide" Target="/ppt/notesSlides/notesSlide3.xml" Id="Rae9e8cb4f58a41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9023a67745444c" /><Relationship Type="http://schemas.openxmlformats.org/officeDocument/2006/relationships/hyperlink" Target="https://doi.org/10.1111/bjet.70058" TargetMode="External" Id="R50d0151844f047a2" /><Relationship Type="http://schemas.openxmlformats.org/officeDocument/2006/relationships/hyperlink" Target="https://wcledutech.github.io/papers/ai-self-regulated-learning-meta-analysis/" TargetMode="External" Id="R4df439d1832b4d99" /><Relationship Type="http://schemas.openxmlformats.org/officeDocument/2006/relationships/notesSlide" Target="/ppt/notesSlides/notesSlide4.xml" Id="Rb6c1339b746347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4d702b85c24cf2" /><Relationship Type="http://schemas.openxmlformats.org/officeDocument/2006/relationships/hyperlink" Target="https://doi.org/10.1057/s41599-024-02751-w" TargetMode="External" Id="R9ce7ddbb7f034795" /><Relationship Type="http://schemas.openxmlformats.org/officeDocument/2006/relationships/hyperlink" Target="https://wcledutech.github.io/papers/chatgpt-programming-ai-literacy/" TargetMode="External" Id="R1e2acb4e0b6e44ef" /><Relationship Type="http://schemas.openxmlformats.org/officeDocument/2006/relationships/notesSlide" Target="/ppt/notesSlides/notesSlide5.xml" Id="Rc8b854ef58ef40f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26c62e60ae47dc" /><Relationship Type="http://schemas.openxmlformats.org/officeDocument/2006/relationships/hyperlink" Target="https://doi.org/10.1007/s10639-025-13487-8" TargetMode="External" Id="R1aa02bb072064199" /><Relationship Type="http://schemas.openxmlformats.org/officeDocument/2006/relationships/hyperlink" Target="https://wcledutech.github.io/papers/ai-agents-collaborative-programming/" TargetMode="External" Id="Rfae76eadcbfe4449" /><Relationship Type="http://schemas.openxmlformats.org/officeDocument/2006/relationships/notesSlide" Target="/ppt/notesSlides/notesSlide6.xml" Id="R23ba302c994241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2063300ded4ac7" /><Relationship Type="http://schemas.openxmlformats.org/officeDocument/2006/relationships/hyperlink" Target="https://doi.org/10.1007/s10639-024-12549-7" TargetMode="External" Id="R3b8ee58af0274c83" /><Relationship Type="http://schemas.openxmlformats.org/officeDocument/2006/relationships/hyperlink" Target="https://wcledutech.github.io/papers/aigc-education-systematic-review/" TargetMode="External" Id="R2a9018829cc7436e" /><Relationship Type="http://schemas.openxmlformats.org/officeDocument/2006/relationships/notesSlide" Target="/ppt/notesSlides/notesSlide7.xml" Id="R851154f3792642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72aae6632a4d33" /><Relationship Type="http://schemas.openxmlformats.org/officeDocument/2006/relationships/hyperlink" Target="https://doi.org/10.1080/10494820.2026.2672562" TargetMode="External" Id="R584c54458c41441a" /><Relationship Type="http://schemas.openxmlformats.org/officeDocument/2006/relationships/hyperlink" Target="https://wcledutech.github.io/papers/genai-agents-education-systematic-review/" TargetMode="External" Id="Re703dd1785b84ba6" /><Relationship Type="http://schemas.openxmlformats.org/officeDocument/2006/relationships/notesSlide" Target="/ppt/notesSlides/notesSlide8.xml" Id="R6ba92b06b8df41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63add9cb7544ba" /><Relationship Type="http://schemas.openxmlformats.org/officeDocument/2006/relationships/hyperlink" Target="https://doi.org/10.18653/v1/2025.findings-emnlp.312" TargetMode="External" Id="R743e2aa988aa4d4e" /><Relationship Type="http://schemas.openxmlformats.org/officeDocument/2006/relationships/hyperlink" Target="https://wcledutech.github.io/papers/ai-agent-school-dual-memory/" TargetMode="External" Id="Rd7dbe42d2b294662" /><Relationship Type="http://schemas.openxmlformats.org/officeDocument/2006/relationships/notesSlide" Target="/ppt/notesSlides/notesSlide9.xml" Id="R8e7f3de3878041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4b8e4f6fb8045bd" /><Relationship Type="http://schemas.openxmlformats.org/officeDocument/2006/relationships/hyperlink" Target="https://doi.org/10.1016/j.dib.2024.111147" TargetMode="External" Id="R055f629b1e554fa0" /><Relationship Type="http://schemas.openxmlformats.org/officeDocument/2006/relationships/hyperlink" Target="https://wcledutech.github.io/papers/classroom-emotion-image-dataset/" TargetMode="External" Id="R56408bc62d4c490e" /><Relationship Type="http://schemas.openxmlformats.org/officeDocument/2006/relationships/notesSlide" Target="/ppt/notesSlides/notesSlide10.xml" Id="Rc951597ba69e443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254C0015-31D0-4EC4-B961-EACAC2A7949B}"/>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Immersive programming with MetaClassroom</a:t>
            </a:r>
          </a:p>
        </p:txBody>
      </p:sp>
      <p:sp>
        <p:nvSpPr>
          <p:cNvPr id="2" name="Formal paper title">
            <a:extLst xmlns:a="http://schemas.openxmlformats.org/drawingml/2006/main">
              <a:ext uri="{FF2B5EF4-FFF2-40B4-BE49-F238E27FC236}">
                <a16:creationId xmlns:a16="http://schemas.microsoft.com/office/drawing/2014/main" id="{5353736A-29B3-4B1B-84C3-7578BC7F56CE}"/>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MetaClassroom: A New Paradigm and Experience for Programming Education</a:t>
            </a:r>
          </a:p>
        </p:txBody>
      </p:sp>
      <p:sp>
        <p:nvSpPr>
          <p:cNvPr id="3" name="All authors">
            <a:extLst xmlns:a="http://schemas.openxmlformats.org/drawingml/2006/main">
              <a:ext uri="{FF2B5EF4-FFF2-40B4-BE49-F238E27FC236}">
                <a16:creationId xmlns:a16="http://schemas.microsoft.com/office/drawing/2014/main" id="{BA34B0E8-962D-4B7C-BA59-AD0B06E61699}"/>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Chengliang Wang, Xiaojiao Chen, Yifei Li, Pengju Wang, Haoming Wang, Yuanyuan Li</a:t>
            </a:r>
          </a:p>
        </p:txBody>
      </p:sp>
      <p:sp>
        <p:nvSpPr>
          <p:cNvPr id="4" name="Journal and year">
            <a:extLst xmlns:a="http://schemas.openxmlformats.org/drawingml/2006/main">
              <a:ext uri="{FF2B5EF4-FFF2-40B4-BE49-F238E27FC236}">
                <a16:creationId xmlns:a16="http://schemas.microsoft.com/office/drawing/2014/main" id="{432802D1-3BF6-4A33-9FB0-DA10B2147CC9}"/>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Journal of Educational Computing Research (2025)</a:t>
            </a:r>
          </a:p>
        </p:txBody>
      </p:sp>
      <p:sp>
        <p:nvSpPr>
          <p:cNvPr id="5" name="Summary heading">
            <a:extLst xmlns:a="http://schemas.openxmlformats.org/drawingml/2006/main">
              <a:ext uri="{FF2B5EF4-FFF2-40B4-BE49-F238E27FC236}">
                <a16:creationId xmlns:a16="http://schemas.microsoft.com/office/drawing/2014/main" id="{8E21281A-1A02-490B-B837-96AFB75B3A96}"/>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B3E2A760-A7D2-4C82-BB82-D05DFD16FC2C}"/>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MetaClassroom connects immersive programming activities with three-dimensional learning progression. A quasi-experimental comparison with traditional classrooms reported improvements in programming achievement, self-regulated learning, learning beliefs and motivation. The study examines connections between teaching, learning and assessment.</a:t>
            </a:r>
          </a:p>
        </p:txBody>
      </p:sp>
      <p:sp>
        <p:nvSpPr>
          <p:cNvPr id="7" name="Design heading">
            <a:extLst xmlns:a="http://schemas.openxmlformats.org/drawingml/2006/main">
              <a:ext uri="{FF2B5EF4-FFF2-40B4-BE49-F238E27FC236}">
                <a16:creationId xmlns:a16="http://schemas.microsoft.com/office/drawing/2014/main" id="{E2C74094-E67F-44EB-AB98-88C7AF98C8AE}"/>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27FC8586-7861-4EE7-BA06-A4C6ABAD87DC}"/>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7A7F9EE2-73C9-4DF6-9987-64C6E63E3651}"/>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Quasi-experimental comparison of an immersive programming environment and traditional classrooms.</a:t>
            </a:r>
          </a:p>
        </p:txBody>
      </p:sp>
      <p:sp>
        <p:nvSpPr>
          <p:cNvPr id="10" name="Appropriate research context">
            <a:extLst xmlns:a="http://schemas.openxmlformats.org/drawingml/2006/main">
              <a:ext uri="{FF2B5EF4-FFF2-40B4-BE49-F238E27FC236}">
                <a16:creationId xmlns:a16="http://schemas.microsoft.com/office/drawing/2014/main" id="{C37ECE8D-4485-413B-B30E-E6A1C9E0F321}"/>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Immersive programming instruction, learning progression, and joint assessment of achievement and self-regulated learning in the implemented MetaClassroom intervention.</a:t>
            </a:r>
          </a:p>
        </p:txBody>
      </p:sp>
      <p:sp>
        <p:nvSpPr>
          <p:cNvPr id="11" name="DOI hyperlink">
            <a:extLst xmlns:a="http://schemas.openxmlformats.org/drawingml/2006/main">
              <a:ext uri="{FF2B5EF4-FFF2-40B4-BE49-F238E27FC236}">
                <a16:creationId xmlns:a16="http://schemas.microsoft.com/office/drawing/2014/main" id="{385F5E53-2478-4758-B9F2-7B8EACF88C6B}"/>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9a8330b1ae4b42c5"/>
              </a:rPr>
              <a:t>DOI: 10.1177/07356331251322470</a:t>
            </a:r>
          </a:p>
        </p:txBody>
      </p:sp>
      <p:sp>
        <p:nvSpPr>
          <p:cNvPr id="12" name="Research page hyperlink">
            <a:extLst xmlns:a="http://schemas.openxmlformats.org/drawingml/2006/main">
              <a:ext uri="{FF2B5EF4-FFF2-40B4-BE49-F238E27FC236}">
                <a16:creationId xmlns:a16="http://schemas.microsoft.com/office/drawing/2014/main" id="{BDCEDAFC-58CC-44C5-80F5-8394E6E74BDB}"/>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2e28cd72fb434736"/>
              </a:rPr>
              <a:t>Research page</a:t>
            </a:r>
          </a:p>
        </p:txBody>
      </p:sp>
      <p:sp>
        <p:nvSpPr>
          <p:cNvPr id="13" name="Slide number">
            <a:extLst xmlns:a="http://schemas.openxmlformats.org/drawingml/2006/main">
              <a:ext uri="{FF2B5EF4-FFF2-40B4-BE49-F238E27FC236}">
                <a16:creationId xmlns:a16="http://schemas.microsoft.com/office/drawing/2014/main" id="{3A204F30-1085-44A9-AEF1-4D3A22F0135C}"/>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1</a:t>
            </a:r>
          </a:p>
        </p:txBody>
      </p:sp>
    </p:spTree>
    <p:extLst>
      <p:ext uri="{BB962C8B-B14F-4D97-AF65-F5344CB8AC3E}">
        <p14:creationId xmlns:p14="http://schemas.microsoft.com/office/powerpoint/2010/main" val="13939737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61BE7C16-F554-459B-8B70-E21C1737BC96}"/>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Connecting GenAI policy with educational change</a:t>
            </a:r>
          </a:p>
        </p:txBody>
      </p:sp>
      <p:sp>
        <p:nvSpPr>
          <p:cNvPr id="2" name="Formal paper title">
            <a:extLst xmlns:a="http://schemas.openxmlformats.org/drawingml/2006/main">
              <a:ext uri="{FF2B5EF4-FFF2-40B4-BE49-F238E27FC236}">
                <a16:creationId xmlns:a16="http://schemas.microsoft.com/office/drawing/2014/main" id="{A6C2C785-1FE7-43A7-8140-9250E00C0C78}"/>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The journey of challenges and victories: exploring the transformation action framework in the GenAI era from multifaceted policies</a:t>
            </a:r>
          </a:p>
        </p:txBody>
      </p:sp>
      <p:sp>
        <p:nvSpPr>
          <p:cNvPr id="3" name="All authors">
            <a:extLst xmlns:a="http://schemas.openxmlformats.org/drawingml/2006/main">
              <a:ext uri="{FF2B5EF4-FFF2-40B4-BE49-F238E27FC236}">
                <a16:creationId xmlns:a16="http://schemas.microsoft.com/office/drawing/2014/main" id="{9B4B74E0-D98D-48A2-AF37-AC1E05D224C1}"/>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Chengliang Wang, Yufan Chen, Zhebing Hu, Yuanyuan Li, Xiaoqing Gu</a:t>
            </a:r>
          </a:p>
        </p:txBody>
      </p:sp>
      <p:sp>
        <p:nvSpPr>
          <p:cNvPr id="4" name="Journal and year">
            <a:extLst xmlns:a="http://schemas.openxmlformats.org/drawingml/2006/main">
              <a:ext uri="{FF2B5EF4-FFF2-40B4-BE49-F238E27FC236}">
                <a16:creationId xmlns:a16="http://schemas.microsoft.com/office/drawing/2014/main" id="{C58BB282-AE64-42FF-B569-2DA6C932AC4E}"/>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Educational technology research and development (2025)</a:t>
            </a:r>
          </a:p>
        </p:txBody>
      </p:sp>
      <p:sp>
        <p:nvSpPr>
          <p:cNvPr id="5" name="Summary heading">
            <a:extLst xmlns:a="http://schemas.openxmlformats.org/drawingml/2006/main">
              <a:ext uri="{FF2B5EF4-FFF2-40B4-BE49-F238E27FC236}">
                <a16:creationId xmlns:a16="http://schemas.microsoft.com/office/drawing/2014/main" id="{781BF2B6-7535-4A29-8C9E-23F35BB60445}"/>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11A58485-D96F-49FF-ADB2-4CFE986FE65D}"/>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This synthesis of 11 policy and guideline documents connects social and workforce change with educational organization, pedagogical logic, and teaching and learning scenarios. Its framework supports examination of how generative AI policy relates to educational practice.</a:t>
            </a:r>
          </a:p>
        </p:txBody>
      </p:sp>
      <p:sp>
        <p:nvSpPr>
          <p:cNvPr id="7" name="Design heading">
            <a:extLst xmlns:a="http://schemas.openxmlformats.org/drawingml/2006/main">
              <a:ext uri="{FF2B5EF4-FFF2-40B4-BE49-F238E27FC236}">
                <a16:creationId xmlns:a16="http://schemas.microsoft.com/office/drawing/2014/main" id="{D6108F94-5CE4-426E-B3A7-95ED7D83EDEC}"/>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2FC5871D-24C4-4D9B-9EE0-D87F1436B669}"/>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9D0A50BB-B932-439C-99CB-A46D3ECE6133}"/>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Meta-ethnographic synthesis of 11 policy and guideline documents from international organizations, education ministries and universities.</a:t>
            </a:r>
          </a:p>
        </p:txBody>
      </p:sp>
      <p:sp>
        <p:nvSpPr>
          <p:cNvPr id="10" name="Appropriate research context">
            <a:extLst xmlns:a="http://schemas.openxmlformats.org/drawingml/2006/main">
              <a:ext uri="{FF2B5EF4-FFF2-40B4-BE49-F238E27FC236}">
                <a16:creationId xmlns:a16="http://schemas.microsoft.com/office/drawing/2014/main" id="{8568A621-9498-47F7-BC3E-8240A0573E58}"/>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GenAI education policy, institutional transformation, teacher roles, and relationships between policy and practice. The evidence base consists of policy documents.</a:t>
            </a:r>
          </a:p>
        </p:txBody>
      </p:sp>
      <p:sp>
        <p:nvSpPr>
          <p:cNvPr id="11" name="DOI hyperlink">
            <a:extLst xmlns:a="http://schemas.openxmlformats.org/drawingml/2006/main">
              <a:ext uri="{FF2B5EF4-FFF2-40B4-BE49-F238E27FC236}">
                <a16:creationId xmlns:a16="http://schemas.microsoft.com/office/drawing/2014/main" id="{C275B103-4A1A-4E3B-97B7-EB6E7921E910}"/>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f0520621c6c948be"/>
              </a:rPr>
              <a:t>DOI: 10.1007/s11423-025-10535-5</a:t>
            </a:r>
          </a:p>
        </p:txBody>
      </p:sp>
      <p:sp>
        <p:nvSpPr>
          <p:cNvPr id="12" name="Research page hyperlink">
            <a:extLst xmlns:a="http://schemas.openxmlformats.org/drawingml/2006/main">
              <a:ext uri="{FF2B5EF4-FFF2-40B4-BE49-F238E27FC236}">
                <a16:creationId xmlns:a16="http://schemas.microsoft.com/office/drawing/2014/main" id="{FE6F1E2A-8763-44CE-9A9C-246CB9C2F6D2}"/>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3d737b8148b840b3"/>
              </a:rPr>
              <a:t>Research page</a:t>
            </a:r>
          </a:p>
        </p:txBody>
      </p:sp>
      <p:sp>
        <p:nvSpPr>
          <p:cNvPr id="13" name="Slide number">
            <a:extLst xmlns:a="http://schemas.openxmlformats.org/drawingml/2006/main">
              <a:ext uri="{FF2B5EF4-FFF2-40B4-BE49-F238E27FC236}">
                <a16:creationId xmlns:a16="http://schemas.microsoft.com/office/drawing/2014/main" id="{0E13191D-87B4-4079-8F12-76EB37BD6C82}"/>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2</a:t>
            </a:r>
          </a:p>
        </p:txBody>
      </p:sp>
    </p:spTree>
    <p:extLst>
      <p:ext uri="{BB962C8B-B14F-4D97-AF65-F5344CB8AC3E}">
        <p14:creationId xmlns:p14="http://schemas.microsoft.com/office/powerpoint/2010/main" val="21386025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07D974C1-C33E-423E-AD61-341EDD50273C}"/>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AI literacy and configurations of AIGC adoption</a:t>
            </a:r>
          </a:p>
        </p:txBody>
      </p:sp>
      <p:sp>
        <p:nvSpPr>
          <p:cNvPr id="2" name="Formal paper title">
            <a:extLst xmlns:a="http://schemas.openxmlformats.org/drawingml/2006/main">
              <a:ext uri="{FF2B5EF4-FFF2-40B4-BE49-F238E27FC236}">
                <a16:creationId xmlns:a16="http://schemas.microsoft.com/office/drawing/2014/main" id="{2516173D-5BB8-40ED-B6B4-4ECDFE8FE8AD}"/>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Deconstructing University Learners' Adoption Intention Towards AIGC Technology: A Mixed-Methods Study Using ChatGPT as an Example</a:t>
            </a:r>
          </a:p>
        </p:txBody>
      </p:sp>
      <p:sp>
        <p:nvSpPr>
          <p:cNvPr id="3" name="All authors">
            <a:extLst xmlns:a="http://schemas.openxmlformats.org/drawingml/2006/main">
              <a:ext uri="{FF2B5EF4-FFF2-40B4-BE49-F238E27FC236}">
                <a16:creationId xmlns:a16="http://schemas.microsoft.com/office/drawing/2014/main" id="{3E7706ED-C184-423E-B384-023547747FF0}"/>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Chengliang Wang, Xiaojiao Chen, Zhebing Hu, Sheng Jin, Xiaoqing Gu</a:t>
            </a:r>
          </a:p>
        </p:txBody>
      </p:sp>
      <p:sp>
        <p:nvSpPr>
          <p:cNvPr id="4" name="Journal and year">
            <a:extLst xmlns:a="http://schemas.openxmlformats.org/drawingml/2006/main">
              <a:ext uri="{FF2B5EF4-FFF2-40B4-BE49-F238E27FC236}">
                <a16:creationId xmlns:a16="http://schemas.microsoft.com/office/drawing/2014/main" id="{10F78AEE-75EB-41C8-9B22-2F6AB2DE1094}"/>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Journal of Computer Assisted Learning (2025)</a:t>
            </a:r>
          </a:p>
        </p:txBody>
      </p:sp>
      <p:sp>
        <p:nvSpPr>
          <p:cNvPr id="5" name="Summary heading">
            <a:extLst xmlns:a="http://schemas.openxmlformats.org/drawingml/2006/main">
              <a:ext uri="{FF2B5EF4-FFF2-40B4-BE49-F238E27FC236}">
                <a16:creationId xmlns:a16="http://schemas.microsoft.com/office/drawing/2014/main" id="{3FDFA55E-3D18-41A8-B086-A80168C570CC}"/>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3E15D816-8822-4588-95E8-4FCB73559AFD}"/>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Exploratory activities and interviews inform a framework for university learners' AIGC adoption intentions. Analysis of 233 valid questionnaires identifies six configurations associated with high adoption intention. AI literacy and perceived behavioural control play prominent roles.</a:t>
            </a:r>
          </a:p>
        </p:txBody>
      </p:sp>
      <p:sp>
        <p:nvSpPr>
          <p:cNvPr id="7" name="Design heading">
            <a:extLst xmlns:a="http://schemas.openxmlformats.org/drawingml/2006/main">
              <a:ext uri="{FF2B5EF4-FFF2-40B4-BE49-F238E27FC236}">
                <a16:creationId xmlns:a16="http://schemas.microsoft.com/office/drawing/2014/main" id="{B5144E33-6001-42E6-861A-B03748F0E8EE}"/>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E0E890BB-047B-41AD-AEAC-7F5E103AD9DB}"/>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0E38A262-ED33-460C-99A4-60757890B6E3}"/>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Sequential exploratory and configurational analysis using interviews and fsQCA of 233 valid questionnaires.</a:t>
            </a:r>
          </a:p>
        </p:txBody>
      </p:sp>
      <p:sp>
        <p:nvSpPr>
          <p:cNvPr id="10" name="Appropriate research context">
            <a:extLst xmlns:a="http://schemas.openxmlformats.org/drawingml/2006/main">
              <a:ext uri="{FF2B5EF4-FFF2-40B4-BE49-F238E27FC236}">
                <a16:creationId xmlns:a16="http://schemas.microsoft.com/office/drawing/2014/main" id="{92DF3350-D112-4E46-8569-4504EFA6C355}"/>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Learner adoption intentions, AI literacy, and configurational explanations of technology use. The questionnaire analysis examines adoption intention.</a:t>
            </a:r>
          </a:p>
        </p:txBody>
      </p:sp>
      <p:sp>
        <p:nvSpPr>
          <p:cNvPr id="11" name="DOI hyperlink">
            <a:extLst xmlns:a="http://schemas.openxmlformats.org/drawingml/2006/main">
              <a:ext uri="{FF2B5EF4-FFF2-40B4-BE49-F238E27FC236}">
                <a16:creationId xmlns:a16="http://schemas.microsoft.com/office/drawing/2014/main" id="{A0CE490D-08D8-4218-87E1-C27BD45E6830}"/>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e20d00ec40424198"/>
              </a:rPr>
              <a:t>DOI: 10.1111/jcal.13117</a:t>
            </a:r>
          </a:p>
        </p:txBody>
      </p:sp>
      <p:sp>
        <p:nvSpPr>
          <p:cNvPr id="12" name="Research page hyperlink">
            <a:extLst xmlns:a="http://schemas.openxmlformats.org/drawingml/2006/main">
              <a:ext uri="{FF2B5EF4-FFF2-40B4-BE49-F238E27FC236}">
                <a16:creationId xmlns:a16="http://schemas.microsoft.com/office/drawing/2014/main" id="{135B1B30-06FB-427A-9F4D-4B0060FBC79A}"/>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8d8d41adcc444c97"/>
              </a:rPr>
              <a:t>Research page</a:t>
            </a:r>
          </a:p>
        </p:txBody>
      </p:sp>
      <p:sp>
        <p:nvSpPr>
          <p:cNvPr id="13" name="Slide number">
            <a:extLst xmlns:a="http://schemas.openxmlformats.org/drawingml/2006/main">
              <a:ext uri="{FF2B5EF4-FFF2-40B4-BE49-F238E27FC236}">
                <a16:creationId xmlns:a16="http://schemas.microsoft.com/office/drawing/2014/main" id="{69CF589B-9140-4B7E-B08E-EDE162C53BBC}"/>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3</a:t>
            </a:r>
          </a:p>
        </p:txBody>
      </p:sp>
    </p:spTree>
    <p:extLst>
      <p:ext uri="{BB962C8B-B14F-4D97-AF65-F5344CB8AC3E}">
        <p14:creationId xmlns:p14="http://schemas.microsoft.com/office/powerpoint/2010/main" val="16858448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C2E30137-497E-4C46-BA3A-89A5E82F2E3F}"/>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AI support across self-regulated learning phases</a:t>
            </a:r>
          </a:p>
        </p:txBody>
      </p:sp>
      <p:sp>
        <p:nvSpPr>
          <p:cNvPr id="2" name="Formal paper title">
            <a:extLst xmlns:a="http://schemas.openxmlformats.org/drawingml/2006/main">
              <a:ext uri="{FF2B5EF4-FFF2-40B4-BE49-F238E27FC236}">
                <a16:creationId xmlns:a16="http://schemas.microsoft.com/office/drawing/2014/main" id="{DBDBD7FB-FC04-44C1-9ED3-8E157DFCFB3F}"/>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AI support in self-regulated learning: A decade of technological evolution and meta-analysis</a:t>
            </a:r>
          </a:p>
        </p:txBody>
      </p:sp>
      <p:sp>
        <p:nvSpPr>
          <p:cNvPr id="3" name="All authors">
            <a:extLst xmlns:a="http://schemas.openxmlformats.org/drawingml/2006/main">
              <a:ext uri="{FF2B5EF4-FFF2-40B4-BE49-F238E27FC236}">
                <a16:creationId xmlns:a16="http://schemas.microsoft.com/office/drawing/2014/main" id="{922878EE-EF8D-4F4B-A851-CB5C70752E1B}"/>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Jun Xu, Yuying Luo, Chengliang Wang, Mengji Wang, Yonghe Wu</a:t>
            </a:r>
          </a:p>
        </p:txBody>
      </p:sp>
      <p:sp>
        <p:nvSpPr>
          <p:cNvPr id="4" name="Journal and year">
            <a:extLst xmlns:a="http://schemas.openxmlformats.org/drawingml/2006/main">
              <a:ext uri="{FF2B5EF4-FFF2-40B4-BE49-F238E27FC236}">
                <a16:creationId xmlns:a16="http://schemas.microsoft.com/office/drawing/2014/main" id="{44E13339-AB59-443E-A812-823EC58E5439}"/>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British Journal of Educational Technology (2026)</a:t>
            </a:r>
          </a:p>
        </p:txBody>
      </p:sp>
      <p:sp>
        <p:nvSpPr>
          <p:cNvPr id="5" name="Summary heading">
            <a:extLst xmlns:a="http://schemas.openxmlformats.org/drawingml/2006/main">
              <a:ext uri="{FF2B5EF4-FFF2-40B4-BE49-F238E27FC236}">
                <a16:creationId xmlns:a16="http://schemas.microsoft.com/office/drawing/2014/main" id="{83F0F399-4B3F-424A-B160-092EE229B1B3}"/>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BC1A3BBE-97C4-4DFC-AAE0-46F08226AB6B}"/>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A meta-analysis of 35 empirical studies from 2013 to 2025 reports a moderate overall effect of AI support on self-regulated learning (g = 0.507). Effects vary across learning phases and measurement approaches. The synthesis distinguishes immediate task performance from durable, transferable self-regulatory competence.</a:t>
            </a:r>
          </a:p>
        </p:txBody>
      </p:sp>
      <p:sp>
        <p:nvSpPr>
          <p:cNvPr id="7" name="Design heading">
            <a:extLst xmlns:a="http://schemas.openxmlformats.org/drawingml/2006/main">
              <a:ext uri="{FF2B5EF4-FFF2-40B4-BE49-F238E27FC236}">
                <a16:creationId xmlns:a16="http://schemas.microsoft.com/office/drawing/2014/main" id="{84650A13-C809-4356-8136-B98E2F6854F8}"/>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74B077F1-FA2C-4AE8-AA3E-6D4B2B5FB986}"/>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40332297-59C8-433E-8E71-3D8B1F436D3A}"/>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Meta-analysis of 35 empirical studies, with SRL-phase, technology and contextual moderator analyses.</a:t>
            </a:r>
          </a:p>
        </p:txBody>
      </p:sp>
      <p:sp>
        <p:nvSpPr>
          <p:cNvPr id="10" name="Appropriate research context">
            <a:extLst xmlns:a="http://schemas.openxmlformats.org/drawingml/2006/main">
              <a:ext uri="{FF2B5EF4-FFF2-40B4-BE49-F238E27FC236}">
                <a16:creationId xmlns:a16="http://schemas.microsoft.com/office/drawing/2014/main" id="{0C2A633A-893C-4293-BA29-67544BFFD3F2}"/>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AI-supported self-regulated learning, scaffolding across learning phases, and assessment design. Pooled and subgroup effects depend on study heterogeneity and instructional context.</a:t>
            </a:r>
          </a:p>
        </p:txBody>
      </p:sp>
      <p:sp>
        <p:nvSpPr>
          <p:cNvPr id="11" name="DOI hyperlink">
            <a:extLst xmlns:a="http://schemas.openxmlformats.org/drawingml/2006/main">
              <a:ext uri="{FF2B5EF4-FFF2-40B4-BE49-F238E27FC236}">
                <a16:creationId xmlns:a16="http://schemas.microsoft.com/office/drawing/2014/main" id="{67C982BE-0696-4643-B20E-A0BDA4C7A143}"/>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50d0151844f047a2"/>
              </a:rPr>
              <a:t>DOI: 10.1111/bjet.70058</a:t>
            </a:r>
          </a:p>
        </p:txBody>
      </p:sp>
      <p:sp>
        <p:nvSpPr>
          <p:cNvPr id="12" name="Research page hyperlink">
            <a:extLst xmlns:a="http://schemas.openxmlformats.org/drawingml/2006/main">
              <a:ext uri="{FF2B5EF4-FFF2-40B4-BE49-F238E27FC236}">
                <a16:creationId xmlns:a16="http://schemas.microsoft.com/office/drawing/2014/main" id="{0FE21AC5-30A2-4B23-90B2-79604E2EF6A4}"/>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4df439d1832b4d99"/>
              </a:rPr>
              <a:t>Research page</a:t>
            </a:r>
          </a:p>
        </p:txBody>
      </p:sp>
      <p:sp>
        <p:nvSpPr>
          <p:cNvPr id="13" name="Slide number">
            <a:extLst xmlns:a="http://schemas.openxmlformats.org/drawingml/2006/main">
              <a:ext uri="{FF2B5EF4-FFF2-40B4-BE49-F238E27FC236}">
                <a16:creationId xmlns:a16="http://schemas.microsoft.com/office/drawing/2014/main" id="{A2806FC7-272E-4C32-B28F-60B0809D9555}"/>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4</a:t>
            </a:r>
          </a:p>
        </p:txBody>
      </p:sp>
    </p:spTree>
    <p:extLst>
      <p:ext uri="{BB962C8B-B14F-4D97-AF65-F5344CB8AC3E}">
        <p14:creationId xmlns:p14="http://schemas.microsoft.com/office/powerpoint/2010/main" val="16292269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EB75EA90-2C46-4405-8C73-5C86379BE368}"/>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Learner factors in ChatGPT-assisted programming</a:t>
            </a:r>
          </a:p>
        </p:txBody>
      </p:sp>
      <p:sp>
        <p:nvSpPr>
          <p:cNvPr id="2" name="Formal paper title">
            <a:extLst xmlns:a="http://schemas.openxmlformats.org/drawingml/2006/main">
              <a:ext uri="{FF2B5EF4-FFF2-40B4-BE49-F238E27FC236}">
                <a16:creationId xmlns:a16="http://schemas.microsoft.com/office/drawing/2014/main" id="{0EC8F137-6C41-4F78-A759-AFBCFB97BC6C}"/>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What factors will affect the effectiveness of using ChatGPT to solve programming problems? A quasi-experimental study</a:t>
            </a:r>
          </a:p>
        </p:txBody>
      </p:sp>
      <p:sp>
        <p:nvSpPr>
          <p:cNvPr id="3" name="All authors">
            <a:extLst xmlns:a="http://schemas.openxmlformats.org/drawingml/2006/main">
              <a:ext uri="{FF2B5EF4-FFF2-40B4-BE49-F238E27FC236}">
                <a16:creationId xmlns:a16="http://schemas.microsoft.com/office/drawing/2014/main" id="{9530EFB7-B3B9-4E25-891D-61900D38A8F8}"/>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Yuhui Jing, Haoming Wang, Xiaojiao Chen, Chengliang Wang</a:t>
            </a:r>
          </a:p>
        </p:txBody>
      </p:sp>
      <p:sp>
        <p:nvSpPr>
          <p:cNvPr id="4" name="Journal and year">
            <a:extLst xmlns:a="http://schemas.openxmlformats.org/drawingml/2006/main">
              <a:ext uri="{FF2B5EF4-FFF2-40B4-BE49-F238E27FC236}">
                <a16:creationId xmlns:a16="http://schemas.microsoft.com/office/drawing/2014/main" id="{92AE4674-112A-487D-96F4-48B7980ED919}"/>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Humanities and Social Sciences Communications (2024)</a:t>
            </a:r>
          </a:p>
        </p:txBody>
      </p:sp>
      <p:sp>
        <p:nvSpPr>
          <p:cNvPr id="5" name="Summary heading">
            <a:extLst xmlns:a="http://schemas.openxmlformats.org/drawingml/2006/main">
              <a:ext uri="{FF2B5EF4-FFF2-40B4-BE49-F238E27FC236}">
                <a16:creationId xmlns:a16="http://schemas.microsoft.com/office/drawing/2014/main" id="{2C5B5DE4-8BC0-4E19-AE3E-306A03D53E33}"/>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5CE8D1E6-2C57-4401-9739-A8A7B6AC88D0}"/>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Using Python graphing tasks, this study examines differences in learners' effectiveness when using ChatGPT to solve programming problems. AI literacy, programming knowledge and understanding of ChatGPT are associated with effective use. The findings connect activity design with learners' existing capabilities.</a:t>
            </a:r>
          </a:p>
        </p:txBody>
      </p:sp>
      <p:sp>
        <p:nvSpPr>
          <p:cNvPr id="7" name="Design heading">
            <a:extLst xmlns:a="http://schemas.openxmlformats.org/drawingml/2006/main">
              <a:ext uri="{FF2B5EF4-FFF2-40B4-BE49-F238E27FC236}">
                <a16:creationId xmlns:a16="http://schemas.microsoft.com/office/drawing/2014/main" id="{E1D5FD03-BEDC-4985-9576-18D94CA4B0A1}"/>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CECC784A-376A-44B9-8455-2139DA1E997C}"/>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5670A0AD-10B0-44FA-8D7D-EA0BC512114D}"/>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Quasi-experimental study in a Python graphing and programming problem-solving context.</a:t>
            </a:r>
          </a:p>
        </p:txBody>
      </p:sp>
      <p:sp>
        <p:nvSpPr>
          <p:cNvPr id="10" name="Appropriate research context">
            <a:extLst xmlns:a="http://schemas.openxmlformats.org/drawingml/2006/main">
              <a:ext uri="{FF2B5EF4-FFF2-40B4-BE49-F238E27FC236}">
                <a16:creationId xmlns:a16="http://schemas.microsoft.com/office/drawing/2014/main" id="{3DAC71B4-A622-4638-90DA-1189F7ECFF55}"/>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Learner readiness, AI literacy, and ChatGPT-assisted programming within the study's tasks and measured learner characteristics.</a:t>
            </a:r>
          </a:p>
        </p:txBody>
      </p:sp>
      <p:sp>
        <p:nvSpPr>
          <p:cNvPr id="11" name="DOI hyperlink">
            <a:extLst xmlns:a="http://schemas.openxmlformats.org/drawingml/2006/main">
              <a:ext uri="{FF2B5EF4-FFF2-40B4-BE49-F238E27FC236}">
                <a16:creationId xmlns:a16="http://schemas.microsoft.com/office/drawing/2014/main" id="{4E237E79-9FC2-4756-9614-82F557911547}"/>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9ce7ddbb7f034795"/>
              </a:rPr>
              <a:t>DOI: 10.1057/s41599-024-02751-w</a:t>
            </a:r>
          </a:p>
        </p:txBody>
      </p:sp>
      <p:sp>
        <p:nvSpPr>
          <p:cNvPr id="12" name="Research page hyperlink">
            <a:extLst xmlns:a="http://schemas.openxmlformats.org/drawingml/2006/main">
              <a:ext uri="{FF2B5EF4-FFF2-40B4-BE49-F238E27FC236}">
                <a16:creationId xmlns:a16="http://schemas.microsoft.com/office/drawing/2014/main" id="{AFB11B73-9B55-4724-ABA5-D1D8474BAAD0}"/>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1e2acb4e0b6e44ef"/>
              </a:rPr>
              <a:t>Research page</a:t>
            </a:r>
          </a:p>
        </p:txBody>
      </p:sp>
      <p:sp>
        <p:nvSpPr>
          <p:cNvPr id="13" name="Slide number">
            <a:extLst xmlns:a="http://schemas.openxmlformats.org/drawingml/2006/main">
              <a:ext uri="{FF2B5EF4-FFF2-40B4-BE49-F238E27FC236}">
                <a16:creationId xmlns:a16="http://schemas.microsoft.com/office/drawing/2014/main" id="{441EACCD-E22E-4ADE-8293-10554F5D88E4}"/>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5</a:t>
            </a:r>
          </a:p>
        </p:txBody>
      </p:sp>
    </p:spTree>
    <p:extLst>
      <p:ext uri="{BB962C8B-B14F-4D97-AF65-F5344CB8AC3E}">
        <p14:creationId xmlns:p14="http://schemas.microsoft.com/office/powerpoint/2010/main" val="12714812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F8DFFCA7-9299-41F6-B6DC-CE3D1727C926}"/>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AI agents in collaborative programming</a:t>
            </a:r>
          </a:p>
        </p:txBody>
      </p:sp>
      <p:sp>
        <p:nvSpPr>
          <p:cNvPr id="2" name="Formal paper title">
            <a:extLst xmlns:a="http://schemas.openxmlformats.org/drawingml/2006/main">
              <a:ext uri="{FF2B5EF4-FFF2-40B4-BE49-F238E27FC236}">
                <a16:creationId xmlns:a16="http://schemas.microsoft.com/office/drawing/2014/main" id="{3FF15047-1FFC-4340-9324-E5CA4303E200}"/>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Impact of AI-agent-supported collaborative learning on the learning outcomes of University programming courses</a:t>
            </a:r>
          </a:p>
        </p:txBody>
      </p:sp>
      <p:sp>
        <p:nvSpPr>
          <p:cNvPr id="3" name="All authors">
            <a:extLst xmlns:a="http://schemas.openxmlformats.org/drawingml/2006/main">
              <a:ext uri="{FF2B5EF4-FFF2-40B4-BE49-F238E27FC236}">
                <a16:creationId xmlns:a16="http://schemas.microsoft.com/office/drawing/2014/main" id="{F7B4C736-8680-4590-8807-C323C237388B}"/>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Haoming Wang, Chengliang Wang, Zhan Chen, Fa Liu, Chunjia Bao, Xianlong Xu</a:t>
            </a:r>
          </a:p>
        </p:txBody>
      </p:sp>
      <p:sp>
        <p:nvSpPr>
          <p:cNvPr id="4" name="Journal and year">
            <a:extLst xmlns:a="http://schemas.openxmlformats.org/drawingml/2006/main">
              <a:ext uri="{FF2B5EF4-FFF2-40B4-BE49-F238E27FC236}">
                <a16:creationId xmlns:a16="http://schemas.microsoft.com/office/drawing/2014/main" id="{756AF319-C109-496B-94F7-D475807FDF0C}"/>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Education and Information Technologies (2025)</a:t>
            </a:r>
          </a:p>
        </p:txBody>
      </p:sp>
      <p:sp>
        <p:nvSpPr>
          <p:cNvPr id="5" name="Summary heading">
            <a:extLst xmlns:a="http://schemas.openxmlformats.org/drawingml/2006/main">
              <a:ext uri="{FF2B5EF4-FFF2-40B4-BE49-F238E27FC236}">
                <a16:creationId xmlns:a16="http://schemas.microsoft.com/office/drawing/2014/main" id="{D3805691-C67E-4750-A217-96D2F4A4B144}"/>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4FFCCF54-9FEC-4756-8C31-77FB3053B391}"/>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This six-week study compares AI-agent-supported and computer-supported collaborative learning in programming. The 45 participants formed groups of 24 and 21. The AI-supported group showed stronger achievement, self-efficacy and interest, with lower mental effort. Mental load did not differ significantly.</a:t>
            </a:r>
          </a:p>
        </p:txBody>
      </p:sp>
      <p:sp>
        <p:nvSpPr>
          <p:cNvPr id="7" name="Design heading">
            <a:extLst xmlns:a="http://schemas.openxmlformats.org/drawingml/2006/main">
              <a:ext uri="{FF2B5EF4-FFF2-40B4-BE49-F238E27FC236}">
                <a16:creationId xmlns:a16="http://schemas.microsoft.com/office/drawing/2014/main" id="{4EEA014B-3594-4C37-8F37-7BFBBB136431}"/>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6DA74AD0-FE31-45E7-95CB-47A884A97768}"/>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CBEF3EED-FBDD-4B36-85E3-993C15FDF189}"/>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Six-week quasi-experimental comparison, with 45 undergraduates in an ACM programming competition teaching environment.</a:t>
            </a:r>
          </a:p>
        </p:txBody>
      </p:sp>
      <p:sp>
        <p:nvSpPr>
          <p:cNvPr id="10" name="Appropriate research context">
            <a:extLst xmlns:a="http://schemas.openxmlformats.org/drawingml/2006/main">
              <a:ext uri="{FF2B5EF4-FFF2-40B4-BE49-F238E27FC236}">
                <a16:creationId xmlns:a16="http://schemas.microsoft.com/office/drawing/2014/main" id="{3E16BA75-CF4F-4930-BB55-DE4FDCC0FA71}"/>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AI agents as collaborators in university programming education, including achievement, self-efficacy, and distinct dimensions of cognitive load.</a:t>
            </a:r>
          </a:p>
        </p:txBody>
      </p:sp>
      <p:sp>
        <p:nvSpPr>
          <p:cNvPr id="11" name="DOI hyperlink">
            <a:extLst xmlns:a="http://schemas.openxmlformats.org/drawingml/2006/main">
              <a:ext uri="{FF2B5EF4-FFF2-40B4-BE49-F238E27FC236}">
                <a16:creationId xmlns:a16="http://schemas.microsoft.com/office/drawing/2014/main" id="{E33044A4-5D67-4331-A0E4-08FCDCBE5CA9}"/>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1aa02bb072064199"/>
              </a:rPr>
              <a:t>DOI: 10.1007/s10639-025-13487-8</a:t>
            </a:r>
          </a:p>
        </p:txBody>
      </p:sp>
      <p:sp>
        <p:nvSpPr>
          <p:cNvPr id="12" name="Research page hyperlink">
            <a:extLst xmlns:a="http://schemas.openxmlformats.org/drawingml/2006/main">
              <a:ext uri="{FF2B5EF4-FFF2-40B4-BE49-F238E27FC236}">
                <a16:creationId xmlns:a16="http://schemas.microsoft.com/office/drawing/2014/main" id="{1CDBA75E-D289-4042-9EAB-7FF39CE10045}"/>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fae76eadcbfe4449"/>
              </a:rPr>
              <a:t>Research page</a:t>
            </a:r>
          </a:p>
        </p:txBody>
      </p:sp>
      <p:sp>
        <p:nvSpPr>
          <p:cNvPr id="13" name="Slide number">
            <a:extLst xmlns:a="http://schemas.openxmlformats.org/drawingml/2006/main">
              <a:ext uri="{FF2B5EF4-FFF2-40B4-BE49-F238E27FC236}">
                <a16:creationId xmlns:a16="http://schemas.microsoft.com/office/drawing/2014/main" id="{A1184729-2C06-4B49-B6B6-2B7F058CD741}"/>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6</a:t>
            </a:r>
          </a:p>
        </p:txBody>
      </p:sp>
    </p:spTree>
    <p:extLst>
      <p:ext uri="{BB962C8B-B14F-4D97-AF65-F5344CB8AC3E}">
        <p14:creationId xmlns:p14="http://schemas.microsoft.com/office/powerpoint/2010/main" val="14815513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D20756DE-81EE-4140-9D95-2AC9E35001E0}"/>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A systematic map of AIGC in education</a:t>
            </a:r>
          </a:p>
        </p:txBody>
      </p:sp>
      <p:sp>
        <p:nvSpPr>
          <p:cNvPr id="2" name="Formal paper title">
            <a:extLst xmlns:a="http://schemas.openxmlformats.org/drawingml/2006/main">
              <a:ext uri="{FF2B5EF4-FFF2-40B4-BE49-F238E27FC236}">
                <a16:creationId xmlns:a16="http://schemas.microsoft.com/office/drawing/2014/main" id="{B3FA98AF-AAC7-4AD7-AAAE-3B5E2DBF722D}"/>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Empowering education development through AIGC: A systematic literature review</a:t>
            </a:r>
          </a:p>
        </p:txBody>
      </p:sp>
      <p:sp>
        <p:nvSpPr>
          <p:cNvPr id="3" name="All authors">
            <a:extLst xmlns:a="http://schemas.openxmlformats.org/drawingml/2006/main">
              <a:ext uri="{FF2B5EF4-FFF2-40B4-BE49-F238E27FC236}">
                <a16:creationId xmlns:a16="http://schemas.microsoft.com/office/drawing/2014/main" id="{48B8DB31-A115-4433-A966-D662D7D17C59}"/>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Xiaojiao Chen, Zhebing Hu, Chengliang Wang</a:t>
            </a:r>
          </a:p>
        </p:txBody>
      </p:sp>
      <p:sp>
        <p:nvSpPr>
          <p:cNvPr id="4" name="Journal and year">
            <a:extLst xmlns:a="http://schemas.openxmlformats.org/drawingml/2006/main">
              <a:ext uri="{FF2B5EF4-FFF2-40B4-BE49-F238E27FC236}">
                <a16:creationId xmlns:a16="http://schemas.microsoft.com/office/drawing/2014/main" id="{CFF84DE2-87F0-453B-965C-4CD3E8282C51}"/>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Education and Information Technologies (2024)</a:t>
            </a:r>
          </a:p>
        </p:txBody>
      </p:sp>
      <p:sp>
        <p:nvSpPr>
          <p:cNvPr id="5" name="Summary heading">
            <a:extLst xmlns:a="http://schemas.openxmlformats.org/drawingml/2006/main">
              <a:ext uri="{FF2B5EF4-FFF2-40B4-BE49-F238E27FC236}">
                <a16:creationId xmlns:a16="http://schemas.microsoft.com/office/drawing/2014/main" id="{0F7834E9-FE3B-4062-9747-91BF3448CA6D}"/>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29B68524-C03F-4031-A6A9-60F7656A6103}"/>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This review examines 134 publications from EBSCO, EI Compendex, Scopus and Web of Science. It maps AIGC performance assessment, instructional applications, learning outcomes, advantages and disadvantages, and future prospects. Grounded-theory analysis informs application scenarios and a research agenda.</a:t>
            </a:r>
          </a:p>
        </p:txBody>
      </p:sp>
      <p:sp>
        <p:nvSpPr>
          <p:cNvPr id="7" name="Design heading">
            <a:extLst xmlns:a="http://schemas.openxmlformats.org/drawingml/2006/main">
              <a:ext uri="{FF2B5EF4-FFF2-40B4-BE49-F238E27FC236}">
                <a16:creationId xmlns:a16="http://schemas.microsoft.com/office/drawing/2014/main" id="{9CB976C0-9C7D-446D-BFF6-50914B639DAA}"/>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5139BA8B-F4F7-432C-BFD0-A93A71FFB847}"/>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47F17BD5-8163-4CDE-9FA8-FEE7AD4155DF}"/>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Systematic literature review of 134 publications from four databases, supplemented by grounded-theory analysis.</a:t>
            </a:r>
          </a:p>
        </p:txBody>
      </p:sp>
      <p:sp>
        <p:nvSpPr>
          <p:cNvPr id="10" name="Appropriate research context">
            <a:extLst xmlns:a="http://schemas.openxmlformats.org/drawingml/2006/main">
              <a:ext uri="{FF2B5EF4-FFF2-40B4-BE49-F238E27FC236}">
                <a16:creationId xmlns:a16="http://schemas.microsoft.com/office/drawing/2014/main" id="{202E4D92-4DB9-4178-B028-BD57975E5953}"/>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Early AIGC-in-education literature, application categories, and research questions within the coverage of the published 2024 review.</a:t>
            </a:r>
          </a:p>
        </p:txBody>
      </p:sp>
      <p:sp>
        <p:nvSpPr>
          <p:cNvPr id="11" name="DOI hyperlink">
            <a:extLst xmlns:a="http://schemas.openxmlformats.org/drawingml/2006/main">
              <a:ext uri="{FF2B5EF4-FFF2-40B4-BE49-F238E27FC236}">
                <a16:creationId xmlns:a16="http://schemas.microsoft.com/office/drawing/2014/main" id="{94F7386C-8F90-4B98-9DCA-B18EDAC39E65}"/>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3b8ee58af0274c83"/>
              </a:rPr>
              <a:t>DOI: 10.1007/s10639-024-12549-7</a:t>
            </a:r>
          </a:p>
        </p:txBody>
      </p:sp>
      <p:sp>
        <p:nvSpPr>
          <p:cNvPr id="12" name="Research page hyperlink">
            <a:extLst xmlns:a="http://schemas.openxmlformats.org/drawingml/2006/main">
              <a:ext uri="{FF2B5EF4-FFF2-40B4-BE49-F238E27FC236}">
                <a16:creationId xmlns:a16="http://schemas.microsoft.com/office/drawing/2014/main" id="{311E0B8E-D32B-4749-BF95-6A6C832B8A6C}"/>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2a9018829cc7436e"/>
              </a:rPr>
              <a:t>Research page</a:t>
            </a:r>
          </a:p>
        </p:txBody>
      </p:sp>
      <p:sp>
        <p:nvSpPr>
          <p:cNvPr id="13" name="Slide number">
            <a:extLst xmlns:a="http://schemas.openxmlformats.org/drawingml/2006/main">
              <a:ext uri="{FF2B5EF4-FFF2-40B4-BE49-F238E27FC236}">
                <a16:creationId xmlns:a16="http://schemas.microsoft.com/office/drawing/2014/main" id="{64879EAD-C50E-43DE-B99F-A73D9F13EE90}"/>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7</a:t>
            </a:r>
          </a:p>
        </p:txBody>
      </p:sp>
    </p:spTree>
    <p:extLst>
      <p:ext uri="{BB962C8B-B14F-4D97-AF65-F5344CB8AC3E}">
        <p14:creationId xmlns:p14="http://schemas.microsoft.com/office/powerpoint/2010/main" val="20332750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95DD09CE-401D-4656-8B44-5227C3132798}"/>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Research directions for GenAI agents in education</a:t>
            </a:r>
          </a:p>
        </p:txBody>
      </p:sp>
      <p:sp>
        <p:nvSpPr>
          <p:cNvPr id="2" name="Formal paper title">
            <a:extLst xmlns:a="http://schemas.openxmlformats.org/drawingml/2006/main">
              <a:ext uri="{FF2B5EF4-FFF2-40B4-BE49-F238E27FC236}">
                <a16:creationId xmlns:a16="http://schemas.microsoft.com/office/drawing/2014/main" id="{5ABFED74-0AAE-44A5-A891-950AA536ED29}"/>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GenAI-agents in education: a systematic review of macro-level trends, educational roles, theoretical foundations and future agendas</a:t>
            </a:r>
          </a:p>
        </p:txBody>
      </p:sp>
      <p:sp>
        <p:nvSpPr>
          <p:cNvPr id="3" name="All authors">
            <a:extLst xmlns:a="http://schemas.openxmlformats.org/drawingml/2006/main">
              <a:ext uri="{FF2B5EF4-FFF2-40B4-BE49-F238E27FC236}">
                <a16:creationId xmlns:a16="http://schemas.microsoft.com/office/drawing/2014/main" id="{0E7D049B-1962-44B7-8D45-43D0274D0D75}"/>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Xingchang Liu, Qianwen Tang, Wanting Wu, Xiaojiao Chen, Chengliang Wang</a:t>
            </a:r>
          </a:p>
        </p:txBody>
      </p:sp>
      <p:sp>
        <p:nvSpPr>
          <p:cNvPr id="4" name="Journal and year">
            <a:extLst xmlns:a="http://schemas.openxmlformats.org/drawingml/2006/main">
              <a:ext uri="{FF2B5EF4-FFF2-40B4-BE49-F238E27FC236}">
                <a16:creationId xmlns:a16="http://schemas.microsoft.com/office/drawing/2014/main" id="{B5FDCE9B-347B-4D26-9CD0-4D060D83D8A4}"/>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Interactive Learning Environments (2026)</a:t>
            </a:r>
          </a:p>
        </p:txBody>
      </p:sp>
      <p:sp>
        <p:nvSpPr>
          <p:cNvPr id="5" name="Summary heading">
            <a:extLst xmlns:a="http://schemas.openxmlformats.org/drawingml/2006/main">
              <a:ext uri="{FF2B5EF4-FFF2-40B4-BE49-F238E27FC236}">
                <a16:creationId xmlns:a16="http://schemas.microsoft.com/office/drawing/2014/main" id="{FB2E8E4C-81D3-4F77-BA5B-2CCA383C6D4F}"/>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0664291F-BCF1-4378-A5D2-9327352483F7}"/>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This systematic review organizes research on generative-AI agents around macro-level trends, educational roles, theoretical foundations and future agendas. It synthesizes how researchers conceptualize and study educational agents across learning settings.</a:t>
            </a:r>
          </a:p>
        </p:txBody>
      </p:sp>
      <p:sp>
        <p:nvSpPr>
          <p:cNvPr id="7" name="Design heading">
            <a:extLst xmlns:a="http://schemas.openxmlformats.org/drawingml/2006/main">
              <a:ext uri="{FF2B5EF4-FFF2-40B4-BE49-F238E27FC236}">
                <a16:creationId xmlns:a16="http://schemas.microsoft.com/office/drawing/2014/main" id="{0C3181E4-EFC8-40B5-8D19-15E03EE918DF}"/>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101C8EC7-BCA2-4EF4-83C1-C0CCE3624332}"/>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AA751C91-1EEA-49F3-A189-EA496B83F74D}"/>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Systematic review of GenAI agents in education.</a:t>
            </a:r>
          </a:p>
        </p:txBody>
      </p:sp>
      <p:sp>
        <p:nvSpPr>
          <p:cNvPr id="10" name="Appropriate research context">
            <a:extLst xmlns:a="http://schemas.openxmlformats.org/drawingml/2006/main">
              <a:ext uri="{FF2B5EF4-FFF2-40B4-BE49-F238E27FC236}">
                <a16:creationId xmlns:a16="http://schemas.microsoft.com/office/drawing/2014/main" id="{754F2823-01AB-4288-9F33-B613F99C74F9}"/>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Literature reviews and research design concerning educational roles, theoretical framing, and the development of GenAI agents.</a:t>
            </a:r>
          </a:p>
        </p:txBody>
      </p:sp>
      <p:sp>
        <p:nvSpPr>
          <p:cNvPr id="11" name="DOI hyperlink">
            <a:extLst xmlns:a="http://schemas.openxmlformats.org/drawingml/2006/main">
              <a:ext uri="{FF2B5EF4-FFF2-40B4-BE49-F238E27FC236}">
                <a16:creationId xmlns:a16="http://schemas.microsoft.com/office/drawing/2014/main" id="{8D824974-4040-4CAA-9836-586353527C3E}"/>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584c54458c41441a"/>
              </a:rPr>
              <a:t>DOI: 10.1080/10494820.2026.2672562</a:t>
            </a:r>
          </a:p>
        </p:txBody>
      </p:sp>
      <p:sp>
        <p:nvSpPr>
          <p:cNvPr id="12" name="Research page hyperlink">
            <a:extLst xmlns:a="http://schemas.openxmlformats.org/drawingml/2006/main">
              <a:ext uri="{FF2B5EF4-FFF2-40B4-BE49-F238E27FC236}">
                <a16:creationId xmlns:a16="http://schemas.microsoft.com/office/drawing/2014/main" id="{F84DBED9-C871-43DA-BEBA-48ACD6B0BEA3}"/>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e703dd1785b84ba6"/>
              </a:rPr>
              <a:t>Research page</a:t>
            </a:r>
          </a:p>
        </p:txBody>
      </p:sp>
      <p:sp>
        <p:nvSpPr>
          <p:cNvPr id="13" name="Slide number">
            <a:extLst xmlns:a="http://schemas.openxmlformats.org/drawingml/2006/main">
              <a:ext uri="{FF2B5EF4-FFF2-40B4-BE49-F238E27FC236}">
                <a16:creationId xmlns:a16="http://schemas.microsoft.com/office/drawing/2014/main" id="{0D3D9990-EEB2-4D8E-BF85-8ADC170232BE}"/>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8</a:t>
            </a:r>
          </a:p>
        </p:txBody>
      </p:sp>
    </p:spTree>
    <p:extLst>
      <p:ext uri="{BB962C8B-B14F-4D97-AF65-F5344CB8AC3E}">
        <p14:creationId xmlns:p14="http://schemas.microsoft.com/office/powerpoint/2010/main" val="5145990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2DD12320-67AB-4297-AFD8-8C7F2CAFD63A}"/>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Simulating educational dynamics with AI-Agent School</a:t>
            </a:r>
          </a:p>
        </p:txBody>
      </p:sp>
      <p:sp>
        <p:nvSpPr>
          <p:cNvPr id="2" name="Formal paper title">
            <a:extLst xmlns:a="http://schemas.openxmlformats.org/drawingml/2006/main">
              <a:ext uri="{FF2B5EF4-FFF2-40B4-BE49-F238E27FC236}">
                <a16:creationId xmlns:a16="http://schemas.microsoft.com/office/drawing/2014/main" id="{F33CCE11-DE97-422C-AC78-7662B5E5D578}"/>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Evolution in Simulation: AI-Agent School with Dual Memory for High-Fidelity Educational Dynamics</a:t>
            </a:r>
          </a:p>
        </p:txBody>
      </p:sp>
      <p:sp>
        <p:nvSpPr>
          <p:cNvPr id="3" name="All authors">
            <a:extLst xmlns:a="http://schemas.openxmlformats.org/drawingml/2006/main">
              <a:ext uri="{FF2B5EF4-FFF2-40B4-BE49-F238E27FC236}">
                <a16:creationId xmlns:a16="http://schemas.microsoft.com/office/drawing/2014/main" id="{D5EAE716-7792-4F70-9A58-09D11EB2A8AD}"/>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Sheng Jin, Haoming Wang, Zhiqi Gao, Yongbo Yang, Bao Chunjia, Chengliang Wang</a:t>
            </a:r>
          </a:p>
        </p:txBody>
      </p:sp>
      <p:sp>
        <p:nvSpPr>
          <p:cNvPr id="4" name="Journal and year">
            <a:extLst xmlns:a="http://schemas.openxmlformats.org/drawingml/2006/main">
              <a:ext uri="{FF2B5EF4-FFF2-40B4-BE49-F238E27FC236}">
                <a16:creationId xmlns:a16="http://schemas.microsoft.com/office/drawing/2014/main" id="{3ABF174C-5D74-4A07-ADA2-3D8AB57C3E0E}"/>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Findings of the Association for Computational Linguistics: EMNLP 2025 (2025)</a:t>
            </a:r>
          </a:p>
        </p:txBody>
      </p:sp>
      <p:sp>
        <p:nvSpPr>
          <p:cNvPr id="5" name="Summary heading">
            <a:extLst xmlns:a="http://schemas.openxmlformats.org/drawingml/2006/main">
              <a:ext uri="{FF2B5EF4-FFF2-40B4-BE49-F238E27FC236}">
                <a16:creationId xmlns:a16="http://schemas.microsoft.com/office/drawing/2014/main" id="{92FB283D-EA55-4A7F-B2A7-C25436218D9A}"/>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F3CDEEAC-F63A-4BCB-BECF-0E3D04EF1449}"/>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AI-Agent School models educational interactions through an experience-reflection-optimization cycle and dual memory. Its experience and knowledge bases combine short- and long-term memory. The work examines how agents evolve through simulated school interactions and provides a computational approach to educational dynamics.</a:t>
            </a:r>
          </a:p>
        </p:txBody>
      </p:sp>
      <p:sp>
        <p:nvSpPr>
          <p:cNvPr id="7" name="Design heading">
            <a:extLst xmlns:a="http://schemas.openxmlformats.org/drawingml/2006/main">
              <a:ext uri="{FF2B5EF4-FFF2-40B4-BE49-F238E27FC236}">
                <a16:creationId xmlns:a16="http://schemas.microsoft.com/office/drawing/2014/main" id="{D01DBF11-49C6-412B-A20F-EC70AF4A683B}"/>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62B3F7D5-ABB3-46FB-8076-B9DD5DEE3A6E}"/>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48E95005-18DE-427F-87CB-62ECB31D2AA2}"/>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Computational educational simulation using LLM agents, a Zero-Exp strategy and dual memory.</a:t>
            </a:r>
          </a:p>
        </p:txBody>
      </p:sp>
      <p:sp>
        <p:nvSpPr>
          <p:cNvPr id="10" name="Appropriate research context">
            <a:extLst xmlns:a="http://schemas.openxmlformats.org/drawingml/2006/main">
              <a:ext uri="{FF2B5EF4-FFF2-40B4-BE49-F238E27FC236}">
                <a16:creationId xmlns:a16="http://schemas.microsoft.com/office/drawing/2014/main" id="{8CBA5407-F8C1-47CD-B28C-5335D8673D41}"/>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Educational multi-agent simulation, agent memory architecture, and synthetic interaction modeling. The evaluation concerns simulated educational dynamics.</a:t>
            </a:r>
          </a:p>
        </p:txBody>
      </p:sp>
      <p:sp>
        <p:nvSpPr>
          <p:cNvPr id="11" name="DOI hyperlink">
            <a:extLst xmlns:a="http://schemas.openxmlformats.org/drawingml/2006/main">
              <a:ext uri="{FF2B5EF4-FFF2-40B4-BE49-F238E27FC236}">
                <a16:creationId xmlns:a16="http://schemas.microsoft.com/office/drawing/2014/main" id="{698C07D8-ABD3-4F15-AA4C-48A24D416A26}"/>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743e2aa988aa4d4e"/>
              </a:rPr>
              <a:t>DOI: 10.18653/v1/2025.findings-emnlp.312</a:t>
            </a:r>
          </a:p>
        </p:txBody>
      </p:sp>
      <p:sp>
        <p:nvSpPr>
          <p:cNvPr id="12" name="Research page hyperlink">
            <a:extLst xmlns:a="http://schemas.openxmlformats.org/drawingml/2006/main">
              <a:ext uri="{FF2B5EF4-FFF2-40B4-BE49-F238E27FC236}">
                <a16:creationId xmlns:a16="http://schemas.microsoft.com/office/drawing/2014/main" id="{B073CE17-793F-4EC5-8D24-014DE33AD47B}"/>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d7dbe42d2b294662"/>
              </a:rPr>
              <a:t>Research page</a:t>
            </a:r>
          </a:p>
        </p:txBody>
      </p:sp>
      <p:sp>
        <p:nvSpPr>
          <p:cNvPr id="13" name="Slide number">
            <a:extLst xmlns:a="http://schemas.openxmlformats.org/drawingml/2006/main">
              <a:ext uri="{FF2B5EF4-FFF2-40B4-BE49-F238E27FC236}">
                <a16:creationId xmlns:a16="http://schemas.microsoft.com/office/drawing/2014/main" id="{268B72F8-E15F-4927-88F0-E72649417A36}"/>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9</a:t>
            </a:r>
          </a:p>
        </p:txBody>
      </p:sp>
    </p:spTree>
    <p:extLst>
      <p:ext uri="{BB962C8B-B14F-4D97-AF65-F5344CB8AC3E}">
        <p14:creationId xmlns:p14="http://schemas.microsoft.com/office/powerpoint/2010/main" val="16503777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search title">
            <a:extLst xmlns:a="http://schemas.openxmlformats.org/drawingml/2006/main">
              <a:ext uri="{FF2B5EF4-FFF2-40B4-BE49-F238E27FC236}">
                <a16:creationId xmlns:a16="http://schemas.microsoft.com/office/drawing/2014/main" id="{E843B9CB-252B-4F4E-AEA8-CBF187BC91E9}"/>
              </a:ext>
            </a:extLst>
          </p:cNvPr>
          <p:cNvSpPr/>
          <p:nvPr/>
        </p:nvSpPr>
        <p:spPr>
          <a:xfrm xmlns:a="http://schemas.openxmlformats.org/drawingml/2006/main">
            <a:off x="619125" y="285750"/>
            <a:ext cx="14001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3600" b="1" i="0">
                <a:solidFill>
                  <a:srgbClr val="14394D"/>
                </a:solidFill>
                <a:latin typeface="Times New Roman"/>
                <a:ea typeface="Times New Roman"/>
                <a:cs typeface="Times New Roman"/>
              </a:defRPr>
            </a:pPr>
            <a:r>
              <a:rPr sz="3600" b="1" i="0">
                <a:solidFill>
                  <a:srgbClr val="14394D"/>
                </a:solidFill>
                <a:latin typeface="Times New Roman"/>
                <a:ea typeface="Times New Roman"/>
                <a:cs typeface="Times New Roman"/>
              </a:rPr>
              <a:t>Classroom emotion data for learning analytics</a:t>
            </a:r>
          </a:p>
        </p:txBody>
      </p:sp>
      <p:sp>
        <p:nvSpPr>
          <p:cNvPr id="2" name="Formal paper title">
            <a:extLst xmlns:a="http://schemas.openxmlformats.org/drawingml/2006/main">
              <a:ext uri="{FF2B5EF4-FFF2-40B4-BE49-F238E27FC236}">
                <a16:creationId xmlns:a16="http://schemas.microsoft.com/office/drawing/2014/main" id="{54764241-9790-4AAA-96EA-B49B1D2C07D4}"/>
              </a:ext>
            </a:extLst>
          </p:cNvPr>
          <p:cNvSpPr/>
          <p:nvPr/>
        </p:nvSpPr>
        <p:spPr>
          <a:xfrm xmlns:a="http://schemas.openxmlformats.org/drawingml/2006/main">
            <a:off x="714375" y="1123950"/>
            <a:ext cx="13811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1">
                <a:solidFill>
                  <a:srgbClr val="14394D"/>
                </a:solidFill>
                <a:latin typeface="Times New Roman"/>
                <a:ea typeface="Times New Roman"/>
                <a:cs typeface="Times New Roman"/>
              </a:defRPr>
            </a:pPr>
            <a:r>
              <a:rPr sz="2400" b="0" i="1">
                <a:solidFill>
                  <a:srgbClr val="14394D"/>
                </a:solidFill>
                <a:latin typeface="Times New Roman"/>
                <a:ea typeface="Times New Roman"/>
                <a:cs typeface="Times New Roman"/>
              </a:rPr>
              <a:t>Annotated emotional image datasets of Chinese university students in real classrooms for deep learning</a:t>
            </a:r>
          </a:p>
        </p:txBody>
      </p:sp>
      <p:sp>
        <p:nvSpPr>
          <p:cNvPr id="3" name="All authors">
            <a:extLst xmlns:a="http://schemas.openxmlformats.org/drawingml/2006/main">
              <a:ext uri="{FF2B5EF4-FFF2-40B4-BE49-F238E27FC236}">
                <a16:creationId xmlns:a16="http://schemas.microsoft.com/office/drawing/2014/main" id="{C9CBF01B-D6D4-408C-B40B-8B87A3B831D3}"/>
              </a:ext>
            </a:extLst>
          </p:cNvPr>
          <p:cNvSpPr/>
          <p:nvPr/>
        </p:nvSpPr>
        <p:spPr>
          <a:xfrm xmlns:a="http://schemas.openxmlformats.org/drawingml/2006/main">
            <a:off x="714375" y="211455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Chengliang Wang, Haoming Wang, Zihui Hu, Xiaojiao Chen</a:t>
            </a:r>
          </a:p>
        </p:txBody>
      </p:sp>
      <p:sp>
        <p:nvSpPr>
          <p:cNvPr id="4" name="Journal and year">
            <a:extLst xmlns:a="http://schemas.openxmlformats.org/drawingml/2006/main">
              <a:ext uri="{FF2B5EF4-FFF2-40B4-BE49-F238E27FC236}">
                <a16:creationId xmlns:a16="http://schemas.microsoft.com/office/drawing/2014/main" id="{CFE0294C-9C5D-428E-A00E-BBE09E131B24}"/>
              </a:ext>
            </a:extLst>
          </p:cNvPr>
          <p:cNvSpPr/>
          <p:nvPr/>
        </p:nvSpPr>
        <p:spPr>
          <a:xfrm xmlns:a="http://schemas.openxmlformats.org/drawingml/2006/main">
            <a:off x="714375" y="2819400"/>
            <a:ext cx="1381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1" i="0">
                <a:solidFill>
                  <a:srgbClr val="116B60"/>
                </a:solidFill>
                <a:latin typeface="Times New Roman"/>
                <a:ea typeface="Times New Roman"/>
                <a:cs typeface="Times New Roman"/>
              </a:defRPr>
            </a:pPr>
            <a:r>
              <a:rPr sz="2100" b="1" i="0">
                <a:solidFill>
                  <a:srgbClr val="116B60"/>
                </a:solidFill>
                <a:latin typeface="Times New Roman"/>
                <a:ea typeface="Times New Roman"/>
                <a:cs typeface="Times New Roman"/>
              </a:rPr>
              <a:t>Data in Brief (2024)</a:t>
            </a:r>
          </a:p>
        </p:txBody>
      </p:sp>
      <p:sp>
        <p:nvSpPr>
          <p:cNvPr id="5" name="Summary heading">
            <a:extLst xmlns:a="http://schemas.openxmlformats.org/drawingml/2006/main">
              <a:ext uri="{FF2B5EF4-FFF2-40B4-BE49-F238E27FC236}">
                <a16:creationId xmlns:a16="http://schemas.microsoft.com/office/drawing/2014/main" id="{F68AA6BA-8E19-4387-82D8-8F1450ADC58A}"/>
              </a:ext>
            </a:extLst>
          </p:cNvPr>
          <p:cNvSpPr/>
          <p:nvPr/>
        </p:nvSpPr>
        <p:spPr>
          <a:xfrm xmlns:a="http://schemas.openxmlformats.org/drawingml/2006/main">
            <a:off x="714375" y="3667125"/>
            <a:ext cx="1381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Research summary</a:t>
            </a:r>
          </a:p>
        </p:txBody>
      </p:sp>
      <p:sp>
        <p:nvSpPr>
          <p:cNvPr id="6" name="Research summary">
            <a:extLst xmlns:a="http://schemas.openxmlformats.org/drawingml/2006/main">
              <a:ext uri="{FF2B5EF4-FFF2-40B4-BE49-F238E27FC236}">
                <a16:creationId xmlns:a16="http://schemas.microsoft.com/office/drawing/2014/main" id="{DF6BC3EC-FF31-4DAD-AC21-141A779AD452}"/>
              </a:ext>
            </a:extLst>
          </p:cNvPr>
          <p:cNvSpPr/>
          <p:nvPr/>
        </p:nvSpPr>
        <p:spPr>
          <a:xfrm xmlns:a="http://schemas.openxmlformats.org/drawingml/2006/main">
            <a:off x="857250" y="4124325"/>
            <a:ext cx="13525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400" b="0" i="0">
                <a:solidFill>
                  <a:srgbClr val="243F4B"/>
                </a:solidFill>
                <a:latin typeface="Times New Roman"/>
                <a:ea typeface="Times New Roman"/>
                <a:cs typeface="Times New Roman"/>
              </a:defRPr>
            </a:pPr>
            <a:r>
              <a:rPr sz="2400" b="0" i="0">
                <a:solidFill>
                  <a:srgbClr val="243F4B"/>
                </a:solidFill>
                <a:latin typeface="Times New Roman"/>
                <a:ea typeface="Times New Roman"/>
                <a:cs typeface="Times New Roman"/>
              </a:rPr>
              <a:t>This data article describes annotated emotional images of Chinese university students in real classrooms for deep-learning research. It supports the study of classroom affect and image-based educational analytics through documented data collection and annotation procedures.</a:t>
            </a:r>
          </a:p>
        </p:txBody>
      </p:sp>
      <p:sp>
        <p:nvSpPr>
          <p:cNvPr id="7" name="Design heading">
            <a:extLst xmlns:a="http://schemas.openxmlformats.org/drawingml/2006/main">
              <a:ext uri="{FF2B5EF4-FFF2-40B4-BE49-F238E27FC236}">
                <a16:creationId xmlns:a16="http://schemas.microsoft.com/office/drawing/2014/main" id="{B748E766-B1C7-4EFC-B2B3-09D2D9581AA0}"/>
              </a:ext>
            </a:extLst>
          </p:cNvPr>
          <p:cNvSpPr/>
          <p:nvPr/>
        </p:nvSpPr>
        <p:spPr>
          <a:xfrm xmlns:a="http://schemas.openxmlformats.org/drawingml/2006/main">
            <a:off x="714375"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Study design</a:t>
            </a:r>
          </a:p>
        </p:txBody>
      </p:sp>
      <p:sp>
        <p:nvSpPr>
          <p:cNvPr id="8" name="Context heading">
            <a:extLst xmlns:a="http://schemas.openxmlformats.org/drawingml/2006/main">
              <a:ext uri="{FF2B5EF4-FFF2-40B4-BE49-F238E27FC236}">
                <a16:creationId xmlns:a16="http://schemas.microsoft.com/office/drawing/2014/main" id="{36BB3FA1-F13D-4366-B485-58BB427AA820}"/>
              </a:ext>
            </a:extLst>
          </p:cNvPr>
          <p:cNvSpPr/>
          <p:nvPr/>
        </p:nvSpPr>
        <p:spPr>
          <a:xfrm xmlns:a="http://schemas.openxmlformats.org/drawingml/2006/main">
            <a:off x="8001000" y="5886450"/>
            <a:ext cx="6524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250" b="1" i="0">
                <a:solidFill>
                  <a:srgbClr val="116B60"/>
                </a:solidFill>
                <a:latin typeface="Times New Roman"/>
                <a:ea typeface="Times New Roman"/>
                <a:cs typeface="Times New Roman"/>
              </a:defRPr>
            </a:pPr>
            <a:r>
              <a:rPr sz="2250" b="1" i="0">
                <a:solidFill>
                  <a:srgbClr val="116B60"/>
                </a:solidFill>
                <a:latin typeface="Times New Roman"/>
                <a:ea typeface="Times New Roman"/>
                <a:cs typeface="Times New Roman"/>
              </a:rPr>
              <a:t>Appropriate research context</a:t>
            </a:r>
          </a:p>
        </p:txBody>
      </p:sp>
      <p:sp>
        <p:nvSpPr>
          <p:cNvPr id="9" name="Study design">
            <a:extLst xmlns:a="http://schemas.openxmlformats.org/drawingml/2006/main">
              <a:ext uri="{FF2B5EF4-FFF2-40B4-BE49-F238E27FC236}">
                <a16:creationId xmlns:a16="http://schemas.microsoft.com/office/drawing/2014/main" id="{3D5AAECF-7B5E-47C2-9DAC-9B6AAB0571A0}"/>
              </a:ext>
            </a:extLst>
          </p:cNvPr>
          <p:cNvSpPr/>
          <p:nvPr/>
        </p:nvSpPr>
        <p:spPr>
          <a:xfrm xmlns:a="http://schemas.openxmlformats.org/drawingml/2006/main">
            <a:off x="762000"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Data article describing annotated classroom emotional images for deep learning.</a:t>
            </a:r>
          </a:p>
        </p:txBody>
      </p:sp>
      <p:sp>
        <p:nvSpPr>
          <p:cNvPr id="10" name="Appropriate research context">
            <a:extLst xmlns:a="http://schemas.openxmlformats.org/drawingml/2006/main">
              <a:ext uri="{FF2B5EF4-FFF2-40B4-BE49-F238E27FC236}">
                <a16:creationId xmlns:a16="http://schemas.microsoft.com/office/drawing/2014/main" id="{8384E655-7DE6-476C-9AE8-0640190AB7A8}"/>
              </a:ext>
            </a:extLst>
          </p:cNvPr>
          <p:cNvSpPr/>
          <p:nvPr/>
        </p:nvSpPr>
        <p:spPr>
          <a:xfrm xmlns:a="http://schemas.openxmlformats.org/drawingml/2006/main">
            <a:off x="8048625" y="6362700"/>
            <a:ext cx="64293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243F4B"/>
                </a:solidFill>
                <a:latin typeface="Times New Roman"/>
                <a:ea typeface="Times New Roman"/>
                <a:cs typeface="Times New Roman"/>
              </a:defRPr>
            </a:pPr>
            <a:r>
              <a:rPr sz="2100" b="0" i="0">
                <a:solidFill>
                  <a:srgbClr val="243F4B"/>
                </a:solidFill>
                <a:latin typeface="Times New Roman"/>
                <a:ea typeface="Times New Roman"/>
                <a:cs typeface="Times New Roman"/>
              </a:rPr>
              <a:t>Classroom affect datasets, image annotation, and evaluation of educational emotion-recognition methods. The original dataset record specifies access and reuse terms.</a:t>
            </a:r>
          </a:p>
        </p:txBody>
      </p:sp>
      <p:sp>
        <p:nvSpPr>
          <p:cNvPr id="11" name="DOI hyperlink">
            <a:extLst xmlns:a="http://schemas.openxmlformats.org/drawingml/2006/main">
              <a:ext uri="{FF2B5EF4-FFF2-40B4-BE49-F238E27FC236}">
                <a16:creationId xmlns:a16="http://schemas.microsoft.com/office/drawing/2014/main" id="{34F3F4EA-054D-4A90-AD89-96CEC392785B}"/>
              </a:ext>
            </a:extLst>
          </p:cNvPr>
          <p:cNvSpPr/>
          <p:nvPr/>
        </p:nvSpPr>
        <p:spPr>
          <a:xfrm xmlns:a="http://schemas.openxmlformats.org/drawingml/2006/main">
            <a:off x="571500" y="7962900"/>
            <a:ext cx="962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055f629b1e554fa0"/>
              </a:rPr>
              <a:t>DOI: 10.1016/j.dib.2024.111147</a:t>
            </a:r>
          </a:p>
        </p:txBody>
      </p:sp>
      <p:sp>
        <p:nvSpPr>
          <p:cNvPr id="12" name="Research page hyperlink">
            <a:extLst xmlns:a="http://schemas.openxmlformats.org/drawingml/2006/main">
              <a:ext uri="{FF2B5EF4-FFF2-40B4-BE49-F238E27FC236}">
                <a16:creationId xmlns:a16="http://schemas.microsoft.com/office/drawing/2014/main" id="{15526D39-B292-4991-A823-6710F49A098D}"/>
              </a:ext>
            </a:extLst>
          </p:cNvPr>
          <p:cNvSpPr/>
          <p:nvPr/>
        </p:nvSpPr>
        <p:spPr>
          <a:xfrm xmlns:a="http://schemas.openxmlformats.org/drawingml/2006/main">
            <a:off x="10572750" y="7962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116B60"/>
                </a:solidFill>
                <a:latin typeface="Times New Roman"/>
                <a:ea typeface="Times New Roman"/>
                <a:cs typeface="Times New Roman"/>
              </a:defRPr>
            </a:pPr>
            <a:r>
              <a:rPr sz="2100" b="0" i="0">
                <a:solidFill>
                  <a:srgbClr val="116B60"/>
                </a:solidFill>
                <a:latin typeface="Times New Roman"/>
                <a:ea typeface="Times New Roman"/>
                <a:cs typeface="Times New Roman"/>
                <a:hlinkClick xmlns:r="http://schemas.openxmlformats.org/officeDocument/2006/relationships" r:id="R56408bc62d4c490e"/>
              </a:rPr>
              <a:t>Research page</a:t>
            </a:r>
          </a:p>
        </p:txBody>
      </p:sp>
      <p:sp>
        <p:nvSpPr>
          <p:cNvPr id="13" name="Slide number">
            <a:extLst xmlns:a="http://schemas.openxmlformats.org/drawingml/2006/main">
              <a:ext uri="{FF2B5EF4-FFF2-40B4-BE49-F238E27FC236}">
                <a16:creationId xmlns:a16="http://schemas.microsoft.com/office/drawing/2014/main" id="{BB6303E4-9833-479C-B6F3-4AA41A9DAAA0}"/>
              </a:ext>
            </a:extLst>
          </p:cNvPr>
          <p:cNvSpPr/>
          <p:nvPr/>
        </p:nvSpPr>
        <p:spPr>
          <a:xfrm xmlns:a="http://schemas.openxmlformats.org/drawingml/2006/main">
            <a:off x="13906500" y="7962900"/>
            <a:ext cx="66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2100" b="0" i="0">
                <a:solidFill>
                  <a:srgbClr val="47616C"/>
                </a:solidFill>
                <a:latin typeface="Times New Roman"/>
                <a:ea typeface="Times New Roman"/>
                <a:cs typeface="Times New Roman"/>
              </a:defRPr>
            </a:pPr>
            <a:r>
              <a:rPr sz="2100" b="0" i="0">
                <a:solidFill>
                  <a:srgbClr val="47616C"/>
                </a:solidFill>
                <a:latin typeface="Times New Roman"/>
                <a:ea typeface="Times New Roman"/>
                <a:cs typeface="Times New Roman"/>
              </a:rPr>
              <a:t>10</a:t>
            </a:r>
          </a:p>
        </p:txBody>
      </p:sp>
    </p:spTree>
    <p:extLst>
      <p:ext uri="{BB962C8B-B14F-4D97-AF65-F5344CB8AC3E}">
        <p14:creationId xmlns:p14="http://schemas.microsoft.com/office/powerpoint/2010/main" val="13150467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2026-09-09T12:47:42.1790000Z</dcterms:created>
  <dcterms:modified xsi:type="dcterms:W3CDTF">2026-09-09T12:47:42.1790000Z</dcterms:modified>
</coreProperties>
</file>